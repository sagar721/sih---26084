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Left: this is what a forecaster sees today, the real satellite IR image of 14 May 2026 at 14:00 UTC. It shows where the storm is, but not where it will go, whether it will grow, or how far to trust a forecast. Right: StormLife takes that same storm cell (#108) through the pipeline: detect it, track it, forecast it 30 min to 6 h ahead, give a calibrated probability of deep convection, and show the validated skill beside it. Every panel is rendered from our frozen replay data. The skill numbers come from 3 held-out storm days. As a yes/no map, ML is not better than pySTEPS beyond 1 h, and we say so. This is a replay prototype, not a live system.</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Left: the tools, grouped by the stage they power. Centre: how StormLife works. Real satellite frames come in, are cleaned and put on one 2 km grid; cold cloud cells (deep convection) are found and followed; three methods estimate the next 30 minutes to 6 hours; and every method is scored on held-out storm days. Right: what it produces, shown with real images from 14 May 2026, ending in the 9-screen replay prototype. It is a research prototype running on replayed data, not a live system.</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Built, measured, verified, clear limits, next validation. Top: what exists today. Centre: the frozen Brier skill chart from three held-out storm days and four findings; the red card is the limit we state openly: ML does not improve yes/no maps over pySTEPS beyond 1 hour. Bottom: only the first stage is built; next and future stages are not built. Limits: 3 held-out days in May 2026 over NW India, ML tested backward in time, single IR channel at 30 minutes, parallax not verified, no radar or lightning truth, replay not live.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One storm signal, three decision users. StormLife provides the storm, the forecast, its validated skill and the replay. The forecaster uses it to see where convection is developing and compare forecast methods. The district official uses the probability and track to prioritise areas for review; advisories are exercise drafts only and nothing is operational. The researcher replays held-out storm days to check whether the system predicted what happened, against the same baselines. Each screenshot is the real prototype screen. No live alerts, deployment or savings are claimed.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Existing radar, lightning, NWP and satellite systems already provide storm guidance; StormLife complements them. In India, open access and latency constrain independent validation, so our question was what can be verified from open geostationary IR alone. Our contribution answers it: satellite-first, baseline-first, calibrated probability, audited tracking, real-event replay, traceable evidence and explicit limitations. The two primary data sources are IMD (hail-report dates, for event selection) and NOAA/NCEP/CPC (Globally Merged IR, all satellite data). References: pySTEPS, Pulkkinen et al., GMD 12, 4185 (2019); tobac, Heikenfeld et al., GMD 12, 4551 (2019) and v1.5, GMD 17, 5309 (2024); TITAN, Dixon &amp; Wiener (1993); FSS, Roberts &amp; Lean (2008); ProbSevere v3, Cintineo et al., Wea. Forecasting 39(12) (2024). Links: https://mausam.imd.gov.in/newdelhi/mcdata/hailstorm_report.pdf ; https://www.cpc.ncep.noaa.gov/products/global_precip/html/wpage.merged_IR.shtml ; https://www.cpc.ncep.noaa.gov/products/global_precip/html/wpage.full_res.shtml ; https://ftp.cpc.ncep.noaa.gov/precip/global_full_res_IR/</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StormLife Nowcast: satellite-first nowcasting of deep convection for SIH26084. Research prototype, validated on real, held-out storm days. Fill Team ID and registered Team Name before export.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0.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https://mausam.imd.gov.in/newdelhi/mcdata/hailstorm_report.pdf" TargetMode="External"/><Relationship Id="rId6" Type="http://schemas.openxmlformats.org/officeDocument/2006/relationships/hyperlink" Target="https://mausam.imd.gov.in/" TargetMode="External"/><Relationship Id="rId7" Type="http://schemas.openxmlformats.org/officeDocument/2006/relationships/image" Target="../media/image19.png"/><Relationship Id="rId8" Type="http://schemas.openxmlformats.org/officeDocument/2006/relationships/hyperlink" Target="https://www.cpc.ncep.noaa.gov/products/global_precip/html/wpage.merged_IR.shtml" TargetMode="External"/><Relationship Id="rId9" Type="http://schemas.openxmlformats.org/officeDocument/2006/relationships/hyperlink" Target="https://www.cpc.ncep.noaa.gov/products/global_precip/html/wpage.full_res.shtml" TargetMode="External"/><Relationship Id="rId10" Type="http://schemas.openxmlformats.org/officeDocument/2006/relationships/hyperlink" Target="https://ftp.cpc.ncep.noaa.gov/precip/global_full_res_IR/" TargetMode="External"/><Relationship Id="rId11" Type="http://schemas.openxmlformats.org/officeDocument/2006/relationships/image" Target="../media/image20.png"/><Relationship Id="rId12" Type="http://schemas.openxmlformats.org/officeDocument/2006/relationships/hyperlink" Target="https://github.com/pySTEPS/pyste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StormLife Nowcast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783080"/>
            <a:ext cx="5924550" cy="4572000"/>
          </a:xfrm>
          <a:prstGeom prst="rect">
            <a:avLst/>
          </a:prstGeom>
          <a:noFill/>
        </p:spPr>
        <p:txBody>
          <a:bodyPr wrap="square" rtlCol="0">
            <a:spAutoFit/>
          </a:bodyPr>
          <a:lstStyle/>
          <a:p>
            <a:pPr>
              <a:lnSpc>
                <a:spcPct val="100000"/>
              </a:lnSpc>
              <a:spcBef>
                <a:spcPts val="0"/>
              </a:spcBef>
              <a:spcAft>
                <a:spcPts val="200"/>
              </a:spcAft>
            </a:pPr>
            <a:endParaRPr lang="en-US" dirty="0"/>
          </a:p>
          <a:p>
            <a:pPr marL="285750" indent="-285750" algn="just">
              <a:lnSpc>
                <a:spcPct val="100000"/>
              </a:lnSpc>
              <a:spcBef>
                <a:spcPts val="0"/>
              </a:spcBef>
              <a:spcAft>
                <a:spcPts val="2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a:t>
            </a:r>
            <a:r>
              <a:rPr b="0" sz="2400">
                <a:latin typeface="Arial"/>
              </a:rPr>
              <a:t> SIH26084</a:t>
            </a:r>
          </a:p>
          <a:p>
            <a:pPr marL="285750" indent="-285750" algn="just">
              <a:lnSpc>
                <a:spcPct val="100000"/>
              </a:lnSpc>
              <a:spcBef>
                <a:spcPts val="0"/>
              </a:spcBef>
              <a:spcAft>
                <a:spcPts val="2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a:t>
            </a:r>
            <a:r>
              <a:rPr b="0" sz="1600">
                <a:latin typeface="Arial"/>
              </a:rPr>
              <a:t> Convective Scale Nowcasting for Thunderstorms, Hail &amp; Cloudbursts (0–6 hr)</a:t>
            </a:r>
          </a:p>
          <a:p>
            <a:pPr marL="285750" indent="-285750" algn="just">
              <a:lnSpc>
                <a:spcPct val="100000"/>
              </a:lnSpc>
              <a:spcBef>
                <a:spcPts val="0"/>
              </a:spcBef>
              <a:spcAft>
                <a:spcPts val="2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Theme-</a:t>
            </a:r>
            <a:r>
              <a:rPr b="0" sz="2400">
                <a:latin typeface="Arial"/>
              </a:rPr>
              <a:t> Disaster Management</a:t>
            </a:r>
          </a:p>
          <a:p>
            <a:pPr marL="285750" indent="-285750" algn="just">
              <a:lnSpc>
                <a:spcPct val="100000"/>
              </a:lnSpc>
              <a:spcBef>
                <a:spcPts val="0"/>
              </a:spcBef>
              <a:spcAft>
                <a:spcPts val="2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a:t>
            </a:r>
            <a:r>
              <a:rPr b="0" sz="2400">
                <a:latin typeface="Arial"/>
              </a:rPr>
              <a:t> Software</a:t>
            </a:r>
          </a:p>
          <a:p>
            <a:pPr marL="285750" indent="-285750" algn="just">
              <a:lnSpc>
                <a:spcPct val="100000"/>
              </a:lnSpc>
              <a:spcBef>
                <a:spcPts val="0"/>
              </a:spcBef>
              <a:spcAft>
                <a:spcPts val="2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r>
              <a:rPr b="0" sz="2400">
                <a:latin typeface="Arial"/>
              </a:rPr>
              <a:t> 167858</a:t>
            </a:r>
          </a:p>
          <a:p>
            <a:pPr marL="285750" indent="-285750" algn="just">
              <a:lnSpc>
                <a:spcPct val="100000"/>
              </a:lnSpc>
              <a:spcBef>
                <a:spcPts val="0"/>
              </a:spcBef>
              <a:spcAft>
                <a:spcPts val="200"/>
              </a:spcAft>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a:t>
            </a:r>
            <a:r>
              <a:rPr b="0" sz="2400">
                <a:latin typeface="Arial"/>
              </a:rPr>
              <a:t> – THE FEVICONS</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691640" y="0"/>
            <a:ext cx="804672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SIH26084 - StormLife Nowcast</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a:t>THE FEVICONS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20040" y="1005840"/>
            <a:ext cx="11521440" cy="329184"/>
          </a:xfrm>
          <a:prstGeom prst="rect">
            <a:avLst/>
          </a:prstGeom>
          <a:noFill/>
        </p:spPr>
        <p:txBody>
          <a:bodyPr wrap="square" anchor="t" lIns="54864" rIns="54864" tIns="54864" bIns="54864">
            <a:noAutofit/>
          </a:bodyPr>
          <a:lstStyle/>
          <a:p>
            <a:pPr algn="ctr">
              <a:spcAft>
                <a:spcPts val="200"/>
              </a:spcAft>
            </a:pPr>
            <a:r>
              <a:rPr sz="1250" b="1" i="0">
                <a:solidFill>
                  <a:srgbClr val="138086"/>
                </a:solidFill>
                <a:latin typeface="Arial"/>
              </a:rPr>
              <a:t>StormLife Nowcast: </a:t>
            </a:r>
            <a:r>
              <a:rPr sz="1250" b="1" i="0">
                <a:solidFill>
                  <a:srgbClr val="1F2A44"/>
                </a:solidFill>
                <a:latin typeface="Arial"/>
              </a:rPr>
              <a:t>satellite → storm cell → a forecast you can check. Convective-scale nowcasting, 0–6 h: how far can it be trusted?</a:t>
            </a:r>
          </a:p>
        </p:txBody>
      </p:sp>
      <p:sp>
        <p:nvSpPr>
          <p:cNvPr id="15363" name="TextBox 15362"/>
          <p:cNvSpPr txBox="1"/>
          <p:nvPr/>
        </p:nvSpPr>
        <p:spPr>
          <a:xfrm>
            <a:off x="320040" y="1371600"/>
            <a:ext cx="493776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HOW IT ADDRESSES THE PROBLEM</a:t>
            </a:r>
          </a:p>
        </p:txBody>
      </p:sp>
      <p:sp>
        <p:nvSpPr>
          <p:cNvPr id="15364" name="TextBox 15363"/>
          <p:cNvSpPr txBox="1"/>
          <p:nvPr/>
        </p:nvSpPr>
        <p:spPr>
          <a:xfrm>
            <a:off x="5440680" y="1371600"/>
            <a:ext cx="644652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DETAILED EXPLANATION OF THE PROPOSED SOLUTION</a:t>
            </a:r>
          </a:p>
        </p:txBody>
      </p:sp>
      <p:sp>
        <p:nvSpPr>
          <p:cNvPr id="15365" name="Rounded Rectangle 15364"/>
          <p:cNvSpPr/>
          <p:nvPr/>
        </p:nvSpPr>
        <p:spPr>
          <a:xfrm>
            <a:off x="320040" y="1645920"/>
            <a:ext cx="3931920" cy="3127248"/>
          </a:xfrm>
          <a:prstGeom prst="roundRect">
            <a:avLst>
              <a:gd name="adj" fmla="val 7000"/>
            </a:avLst>
          </a:prstGeom>
          <a:solidFill>
            <a:srgbClr val="FBEDEA"/>
          </a:solidFill>
          <a:ln w="9525">
            <a:solidFill>
              <a:srgbClr val="E8C4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6" name="Rounded Rectangle 15365"/>
          <p:cNvSpPr/>
          <p:nvPr/>
        </p:nvSpPr>
        <p:spPr>
          <a:xfrm>
            <a:off x="320040" y="1645920"/>
            <a:ext cx="3931920" cy="274320"/>
          </a:xfrm>
          <a:prstGeom prst="roundRect">
            <a:avLst>
              <a:gd name="adj" fmla="val 25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l">
              <a:spcAft>
                <a:spcPts val="200"/>
              </a:spcAft>
            </a:pPr>
            <a:r>
              <a:rPr sz="1050" b="1" i="0">
                <a:solidFill>
                  <a:srgbClr val="FFFFFF"/>
                </a:solidFill>
                <a:latin typeface="Arial"/>
              </a:rPr>
              <a:t>WHAT WE SEE TODAY</a:t>
            </a:r>
          </a:p>
        </p:txBody>
      </p:sp>
      <p:pic>
        <p:nvPicPr>
          <p:cNvPr id="15367" name="Picture 15366" descr="story_today.png"/>
          <p:cNvPicPr>
            <a:picLocks noChangeAspect="1"/>
          </p:cNvPicPr>
          <p:nvPr/>
        </p:nvPicPr>
        <p:blipFill>
          <a:blip r:embed="rId4"/>
          <a:stretch>
            <a:fillRect/>
          </a:stretch>
        </p:blipFill>
        <p:spPr>
          <a:xfrm>
            <a:off x="393192" y="1975104"/>
            <a:ext cx="3785615" cy="1892807"/>
          </a:xfrm>
          <a:prstGeom prst="rect">
            <a:avLst/>
          </a:prstGeom>
          <a:ln w="9525">
            <a:solidFill>
              <a:srgbClr val="C9CED8"/>
            </a:solidFill>
          </a:ln>
        </p:spPr>
      </p:pic>
      <p:sp>
        <p:nvSpPr>
          <p:cNvPr id="15368" name="Rounded Rectangle 15367"/>
          <p:cNvSpPr/>
          <p:nvPr/>
        </p:nvSpPr>
        <p:spPr>
          <a:xfrm>
            <a:off x="393192" y="3931920"/>
            <a:ext cx="1216152" cy="457200"/>
          </a:xfrm>
          <a:prstGeom prst="roundRect">
            <a:avLst>
              <a:gd name="adj" fmla="val 7000"/>
            </a:avLst>
          </a:prstGeom>
          <a:solidFill>
            <a:srgbClr val="FFFFFF"/>
          </a:solidFill>
          <a:ln w="1270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100" b="1" i="0">
                <a:solidFill>
                  <a:srgbClr val="B23A2E"/>
                </a:solidFill>
                <a:latin typeface="Arial"/>
              </a:rPr>
              <a:t>? </a:t>
            </a:r>
            <a:r>
              <a:rPr sz="930" b="1" i="0">
                <a:solidFill>
                  <a:srgbClr val="1C2433"/>
                </a:solidFill>
                <a:latin typeface="Arial"/>
              </a:rPr>
              <a:t>Where will it move?</a:t>
            </a:r>
          </a:p>
        </p:txBody>
      </p:sp>
      <p:sp>
        <p:nvSpPr>
          <p:cNvPr id="15369" name="Rounded Rectangle 15368"/>
          <p:cNvSpPr/>
          <p:nvPr/>
        </p:nvSpPr>
        <p:spPr>
          <a:xfrm>
            <a:off x="1673351" y="3931920"/>
            <a:ext cx="1216152" cy="457200"/>
          </a:xfrm>
          <a:prstGeom prst="roundRect">
            <a:avLst>
              <a:gd name="adj" fmla="val 7000"/>
            </a:avLst>
          </a:prstGeom>
          <a:solidFill>
            <a:srgbClr val="FFFFFF"/>
          </a:solidFill>
          <a:ln w="1270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100" b="1" i="0">
                <a:solidFill>
                  <a:srgbClr val="B23A2E"/>
                </a:solidFill>
                <a:latin typeface="Arial"/>
              </a:rPr>
              <a:t>? </a:t>
            </a:r>
            <a:r>
              <a:rPr sz="930" b="1" i="0">
                <a:solidFill>
                  <a:srgbClr val="1C2433"/>
                </a:solidFill>
                <a:latin typeface="Arial"/>
              </a:rPr>
              <a:t>Will it intensify?</a:t>
            </a:r>
          </a:p>
        </p:txBody>
      </p:sp>
      <p:sp>
        <p:nvSpPr>
          <p:cNvPr id="15370" name="Rounded Rectangle 15369"/>
          <p:cNvSpPr/>
          <p:nvPr/>
        </p:nvSpPr>
        <p:spPr>
          <a:xfrm>
            <a:off x="2953512" y="3931920"/>
            <a:ext cx="1216152" cy="457200"/>
          </a:xfrm>
          <a:prstGeom prst="roundRect">
            <a:avLst>
              <a:gd name="adj" fmla="val 7000"/>
            </a:avLst>
          </a:prstGeom>
          <a:solidFill>
            <a:srgbClr val="FFFFFF"/>
          </a:solidFill>
          <a:ln w="1270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100" b="1" i="0">
                <a:solidFill>
                  <a:srgbClr val="B23A2E"/>
                </a:solidFill>
                <a:latin typeface="Arial"/>
              </a:rPr>
              <a:t>? </a:t>
            </a:r>
            <a:r>
              <a:rPr sz="930" b="1" i="0">
                <a:solidFill>
                  <a:srgbClr val="1C2433"/>
                </a:solidFill>
                <a:latin typeface="Arial"/>
              </a:rPr>
              <a:t>How far can we trust the forecast?</a:t>
            </a:r>
          </a:p>
        </p:txBody>
      </p:sp>
      <p:sp>
        <p:nvSpPr>
          <p:cNvPr id="15371" name="TextBox 15370"/>
          <p:cNvSpPr txBox="1"/>
          <p:nvPr/>
        </p:nvSpPr>
        <p:spPr>
          <a:xfrm>
            <a:off x="393192" y="4416552"/>
            <a:ext cx="3785615" cy="347472"/>
          </a:xfrm>
          <a:prstGeom prst="rect">
            <a:avLst/>
          </a:prstGeom>
          <a:noFill/>
        </p:spPr>
        <p:txBody>
          <a:bodyPr wrap="square" anchor="t" lIns="18288" rIns="18288" tIns="18288" bIns="18288">
            <a:noAutofit/>
          </a:bodyPr>
          <a:lstStyle/>
          <a:p>
            <a:pPr algn="ctr">
              <a:spcAft>
                <a:spcPts val="200"/>
              </a:spcAft>
            </a:pPr>
            <a:r>
              <a:rPr sz="900" b="0" i="0">
                <a:solidFill>
                  <a:srgbClr val="1C2433"/>
                </a:solidFill>
                <a:latin typeface="Arial"/>
              </a:rPr>
              <a:t>Thunderstorms, hail and cloudbursts grow from deep convection within hours · no open, live radar or lightning feed in India</a:t>
            </a:r>
          </a:p>
        </p:txBody>
      </p:sp>
      <p:sp>
        <p:nvSpPr>
          <p:cNvPr id="15372" name="Right Arrow 15371"/>
          <p:cNvSpPr/>
          <p:nvPr/>
        </p:nvSpPr>
        <p:spPr>
          <a:xfrm>
            <a:off x="4315968" y="2331720"/>
            <a:ext cx="1060704" cy="868680"/>
          </a:xfrm>
          <a:prstGeom prst="right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150" b="1" i="0">
                <a:solidFill>
                  <a:srgbClr val="FFFFFF"/>
                </a:solidFill>
                <a:latin typeface="Arial"/>
              </a:rPr>
              <a:t>30 min</a:t>
            </a:r>
          </a:p>
          <a:p>
            <a:pPr algn="ctr">
              <a:spcAft>
                <a:spcPts val="200"/>
              </a:spcAft>
            </a:pPr>
            <a:r>
              <a:rPr sz="1150" b="1" i="0">
                <a:solidFill>
                  <a:srgbClr val="FFFFFF"/>
                </a:solidFill>
                <a:latin typeface="Arial"/>
              </a:rPr>
              <a:t>→ 6 h</a:t>
            </a:r>
          </a:p>
        </p:txBody>
      </p:sp>
      <p:sp>
        <p:nvSpPr>
          <p:cNvPr id="15373" name="TextBox 15372"/>
          <p:cNvSpPr txBox="1"/>
          <p:nvPr/>
        </p:nvSpPr>
        <p:spPr>
          <a:xfrm>
            <a:off x="4224528" y="3246120"/>
            <a:ext cx="1243584" cy="1097280"/>
          </a:xfrm>
          <a:prstGeom prst="rect">
            <a:avLst/>
          </a:prstGeom>
          <a:noFill/>
        </p:spPr>
        <p:txBody>
          <a:bodyPr wrap="square" anchor="t" lIns="18288" rIns="18288" tIns="18288" bIns="18288">
            <a:noAutofit/>
          </a:bodyPr>
          <a:lstStyle/>
          <a:p>
            <a:pPr algn="ctr">
              <a:spcAft>
                <a:spcPts val="200"/>
              </a:spcAft>
            </a:pPr>
            <a:r>
              <a:rPr sz="950" b="1" i="0">
                <a:solidFill>
                  <a:srgbClr val="1F2A44"/>
                </a:solidFill>
                <a:latin typeface="Arial"/>
              </a:rPr>
              <a:t>2 km grid</a:t>
            </a:r>
          </a:p>
          <a:p>
            <a:pPr algn="ctr">
              <a:spcAft>
                <a:spcPts val="200"/>
              </a:spcAft>
            </a:pPr>
            <a:r>
              <a:rPr sz="950" b="1" i="0">
                <a:solidFill>
                  <a:srgbClr val="1F2A44"/>
                </a:solidFill>
                <a:latin typeface="Arial"/>
              </a:rPr>
              <a:t>target: deep</a:t>
            </a:r>
          </a:p>
          <a:p>
            <a:pPr algn="ctr">
              <a:spcAft>
                <a:spcPts val="200"/>
              </a:spcAft>
            </a:pPr>
            <a:r>
              <a:rPr sz="950" b="1" i="0">
                <a:solidFill>
                  <a:srgbClr val="1F2A44"/>
                </a:solidFill>
                <a:latin typeface="Arial"/>
              </a:rPr>
              <a:t>convection,</a:t>
            </a:r>
          </a:p>
          <a:p>
            <a:pPr algn="ctr">
              <a:spcAft>
                <a:spcPts val="200"/>
              </a:spcAft>
            </a:pPr>
            <a:r>
              <a:rPr sz="950" b="1" i="0">
                <a:solidFill>
                  <a:srgbClr val="1F2A44"/>
                </a:solidFill>
                <a:latin typeface="Arial"/>
              </a:rPr>
              <a:t>cloud top &lt; 235 K</a:t>
            </a:r>
          </a:p>
        </p:txBody>
      </p:sp>
      <p:sp>
        <p:nvSpPr>
          <p:cNvPr id="15374" name="Rounded Rectangle 15373"/>
          <p:cNvSpPr/>
          <p:nvPr/>
        </p:nvSpPr>
        <p:spPr>
          <a:xfrm>
            <a:off x="5440680" y="1645920"/>
            <a:ext cx="6446520" cy="3127248"/>
          </a:xfrm>
          <a:prstGeom prst="roundRect">
            <a:avLst>
              <a:gd name="adj" fmla="val 7000"/>
            </a:avLst>
          </a:prstGeom>
          <a:solidFill>
            <a:srgbClr val="E6F3F3"/>
          </a:solidFill>
          <a:ln w="9525">
            <a:solidFill>
              <a:srgbClr val="B9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5" name="Rounded Rectangle 15374"/>
          <p:cNvSpPr/>
          <p:nvPr/>
        </p:nvSpPr>
        <p:spPr>
          <a:xfrm>
            <a:off x="5440680" y="1645920"/>
            <a:ext cx="6446520" cy="274320"/>
          </a:xfrm>
          <a:prstGeom prst="roundRect">
            <a:avLst>
              <a:gd name="adj" fmla="val 25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l">
              <a:spcAft>
                <a:spcPts val="200"/>
              </a:spcAft>
            </a:pPr>
            <a:r>
              <a:rPr sz="1050" b="1" i="0">
                <a:solidFill>
                  <a:srgbClr val="FFFFFF"/>
                </a:solidFill>
                <a:latin typeface="Arial"/>
              </a:rPr>
              <a:t>WHAT STORMLIFE ADDS</a:t>
            </a:r>
            <a:r>
              <a:rPr sz="950" b="0" i="0">
                <a:solidFill>
                  <a:srgbClr val="FFFFFF"/>
                </a:solidFill>
                <a:latin typeface="Arial"/>
              </a:rPr>
              <a:t>   satellite nowcasting of one real storm cell (#108, 14 May 2026)</a:t>
            </a:r>
          </a:p>
        </p:txBody>
      </p:sp>
      <p:pic>
        <p:nvPicPr>
          <p:cNvPr id="15376" name="Picture 15375" descr="story_1_ir.png"/>
          <p:cNvPicPr>
            <a:picLocks noChangeAspect="1"/>
          </p:cNvPicPr>
          <p:nvPr/>
        </p:nvPicPr>
        <p:blipFill>
          <a:blip r:embed="rId5"/>
          <a:stretch>
            <a:fillRect/>
          </a:stretch>
        </p:blipFill>
        <p:spPr>
          <a:xfrm>
            <a:off x="5513832" y="1993392"/>
            <a:ext cx="950976" cy="676656"/>
          </a:xfrm>
          <a:prstGeom prst="rect">
            <a:avLst/>
          </a:prstGeom>
          <a:ln w="9525">
            <a:solidFill>
              <a:srgbClr val="C9CED8"/>
            </a:solidFill>
          </a:ln>
        </p:spPr>
      </p:pic>
      <p:sp>
        <p:nvSpPr>
          <p:cNvPr id="15377" name="TextBox 15376"/>
          <p:cNvSpPr txBox="1"/>
          <p:nvPr/>
        </p:nvSpPr>
        <p:spPr>
          <a:xfrm>
            <a:off x="5477256" y="2697480"/>
            <a:ext cx="1024128" cy="329184"/>
          </a:xfrm>
          <a:prstGeom prst="rect">
            <a:avLst/>
          </a:prstGeom>
          <a:noFill/>
        </p:spPr>
        <p:txBody>
          <a:bodyPr wrap="square" anchor="t" lIns="9144" rIns="9144" tIns="9144" bIns="9144">
            <a:noAutofit/>
          </a:bodyPr>
          <a:lstStyle/>
          <a:p>
            <a:pPr algn="l">
              <a:spcAft>
                <a:spcPts val="200"/>
              </a:spcAft>
            </a:pPr>
            <a:r>
              <a:rPr sz="900" b="1" i="0">
                <a:solidFill>
                  <a:srgbClr val="138086"/>
                </a:solidFill>
                <a:latin typeface="Arial"/>
              </a:rPr>
              <a:t>1 SATELLITE IR</a:t>
            </a:r>
          </a:p>
        </p:txBody>
      </p:sp>
      <p:sp>
        <p:nvSpPr>
          <p:cNvPr id="15378" name="TextBox 15377"/>
          <p:cNvSpPr txBox="1"/>
          <p:nvPr/>
        </p:nvSpPr>
        <p:spPr>
          <a:xfrm>
            <a:off x="5477256" y="3035808"/>
            <a:ext cx="1024128" cy="420624"/>
          </a:xfrm>
          <a:prstGeom prst="rect">
            <a:avLst/>
          </a:prstGeom>
          <a:noFill/>
        </p:spPr>
        <p:txBody>
          <a:bodyPr wrap="square" anchor="t" lIns="9144" rIns="9144" tIns="9144" bIns="9144">
            <a:noAutofit/>
          </a:bodyPr>
          <a:lstStyle/>
          <a:p>
            <a:pPr algn="l">
              <a:spcAft>
                <a:spcPts val="200"/>
              </a:spcAft>
            </a:pPr>
            <a:r>
              <a:rPr sz="900" b="0" i="0">
                <a:solidFill>
                  <a:srgbClr val="1C2433"/>
                </a:solidFill>
                <a:latin typeface="Arial"/>
              </a:rPr>
              <a:t>every 30 min</a:t>
            </a:r>
          </a:p>
        </p:txBody>
      </p:sp>
      <p:sp>
        <p:nvSpPr>
          <p:cNvPr id="15379" name="Right Arrow 15378"/>
          <p:cNvSpPr/>
          <p:nvPr/>
        </p:nvSpPr>
        <p:spPr>
          <a:xfrm>
            <a:off x="6475780" y="2249424"/>
            <a:ext cx="100584" cy="164592"/>
          </a:xfrm>
          <a:prstGeom prst="right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80" name="Picture 15379" descr="story_2_detect.png"/>
          <p:cNvPicPr>
            <a:picLocks noChangeAspect="1"/>
          </p:cNvPicPr>
          <p:nvPr/>
        </p:nvPicPr>
        <p:blipFill>
          <a:blip r:embed="rId6"/>
          <a:stretch>
            <a:fillRect/>
          </a:stretch>
        </p:blipFill>
        <p:spPr>
          <a:xfrm>
            <a:off x="6585508" y="1993392"/>
            <a:ext cx="950976" cy="676656"/>
          </a:xfrm>
          <a:prstGeom prst="rect">
            <a:avLst/>
          </a:prstGeom>
          <a:ln w="9525">
            <a:solidFill>
              <a:srgbClr val="C9CED8"/>
            </a:solidFill>
          </a:ln>
        </p:spPr>
      </p:pic>
      <p:sp>
        <p:nvSpPr>
          <p:cNvPr id="15381" name="TextBox 15380"/>
          <p:cNvSpPr txBox="1"/>
          <p:nvPr/>
        </p:nvSpPr>
        <p:spPr>
          <a:xfrm>
            <a:off x="6548932" y="2697480"/>
            <a:ext cx="1024128" cy="329184"/>
          </a:xfrm>
          <a:prstGeom prst="rect">
            <a:avLst/>
          </a:prstGeom>
          <a:noFill/>
        </p:spPr>
        <p:txBody>
          <a:bodyPr wrap="square" anchor="t" lIns="9144" rIns="9144" tIns="9144" bIns="9144">
            <a:noAutofit/>
          </a:bodyPr>
          <a:lstStyle/>
          <a:p>
            <a:pPr algn="l">
              <a:spcAft>
                <a:spcPts val="200"/>
              </a:spcAft>
            </a:pPr>
            <a:r>
              <a:rPr sz="900" b="1" i="0">
                <a:solidFill>
                  <a:srgbClr val="138086"/>
                </a:solidFill>
                <a:latin typeface="Arial"/>
              </a:rPr>
              <a:t>2 DETECT</a:t>
            </a:r>
          </a:p>
        </p:txBody>
      </p:sp>
      <p:sp>
        <p:nvSpPr>
          <p:cNvPr id="15382" name="TextBox 15381"/>
          <p:cNvSpPr txBox="1"/>
          <p:nvPr/>
        </p:nvSpPr>
        <p:spPr>
          <a:xfrm>
            <a:off x="6548932" y="3035808"/>
            <a:ext cx="1024128" cy="420624"/>
          </a:xfrm>
          <a:prstGeom prst="rect">
            <a:avLst/>
          </a:prstGeom>
          <a:noFill/>
        </p:spPr>
        <p:txBody>
          <a:bodyPr wrap="square" anchor="t" lIns="9144" rIns="9144" tIns="9144" bIns="9144">
            <a:noAutofit/>
          </a:bodyPr>
          <a:lstStyle/>
          <a:p>
            <a:pPr algn="l">
              <a:spcAft>
                <a:spcPts val="200"/>
              </a:spcAft>
            </a:pPr>
            <a:r>
              <a:rPr sz="900" b="0" i="0">
                <a:solidFill>
                  <a:srgbClr val="1C2433"/>
                </a:solidFill>
                <a:latin typeface="Arial"/>
              </a:rPr>
              <a:t>cold cell &lt; 245 K</a:t>
            </a:r>
          </a:p>
        </p:txBody>
      </p:sp>
      <p:sp>
        <p:nvSpPr>
          <p:cNvPr id="15383" name="Right Arrow 15382"/>
          <p:cNvSpPr/>
          <p:nvPr/>
        </p:nvSpPr>
        <p:spPr>
          <a:xfrm>
            <a:off x="7547457" y="2249424"/>
            <a:ext cx="100584" cy="164592"/>
          </a:xfrm>
          <a:prstGeom prst="right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84" name="Picture 15383" descr="story_3_track.png"/>
          <p:cNvPicPr>
            <a:picLocks noChangeAspect="1"/>
          </p:cNvPicPr>
          <p:nvPr/>
        </p:nvPicPr>
        <p:blipFill>
          <a:blip r:embed="rId7"/>
          <a:stretch>
            <a:fillRect/>
          </a:stretch>
        </p:blipFill>
        <p:spPr>
          <a:xfrm>
            <a:off x="7657185" y="1993392"/>
            <a:ext cx="950976" cy="676656"/>
          </a:xfrm>
          <a:prstGeom prst="rect">
            <a:avLst/>
          </a:prstGeom>
          <a:ln w="9525">
            <a:solidFill>
              <a:srgbClr val="C9CED8"/>
            </a:solidFill>
          </a:ln>
        </p:spPr>
      </p:pic>
      <p:sp>
        <p:nvSpPr>
          <p:cNvPr id="15385" name="TextBox 15384"/>
          <p:cNvSpPr txBox="1"/>
          <p:nvPr/>
        </p:nvSpPr>
        <p:spPr>
          <a:xfrm>
            <a:off x="7620609" y="2697480"/>
            <a:ext cx="1024128" cy="329184"/>
          </a:xfrm>
          <a:prstGeom prst="rect">
            <a:avLst/>
          </a:prstGeom>
          <a:noFill/>
        </p:spPr>
        <p:txBody>
          <a:bodyPr wrap="square" anchor="t" lIns="9144" rIns="9144" tIns="9144" bIns="9144">
            <a:noAutofit/>
          </a:bodyPr>
          <a:lstStyle/>
          <a:p>
            <a:pPr algn="l">
              <a:spcAft>
                <a:spcPts val="200"/>
              </a:spcAft>
            </a:pPr>
            <a:r>
              <a:rPr sz="900" b="1" i="0">
                <a:solidFill>
                  <a:srgbClr val="138086"/>
                </a:solidFill>
                <a:latin typeface="Arial"/>
              </a:rPr>
              <a:t>3 TRACK</a:t>
            </a:r>
          </a:p>
        </p:txBody>
      </p:sp>
      <p:sp>
        <p:nvSpPr>
          <p:cNvPr id="15386" name="TextBox 15385"/>
          <p:cNvSpPr txBox="1"/>
          <p:nvPr/>
        </p:nvSpPr>
        <p:spPr>
          <a:xfrm>
            <a:off x="7620609" y="3035808"/>
            <a:ext cx="1024128" cy="420624"/>
          </a:xfrm>
          <a:prstGeom prst="rect">
            <a:avLst/>
          </a:prstGeom>
          <a:noFill/>
        </p:spPr>
        <p:txBody>
          <a:bodyPr wrap="square" anchor="t" lIns="9144" rIns="9144" tIns="9144" bIns="9144">
            <a:noAutofit/>
          </a:bodyPr>
          <a:lstStyle/>
          <a:p>
            <a:pPr algn="l">
              <a:spcAft>
                <a:spcPts val="200"/>
              </a:spcAft>
            </a:pPr>
            <a:r>
              <a:rPr sz="900" b="0" i="0">
                <a:solidFill>
                  <a:srgbClr val="1C2433"/>
                </a:solidFill>
                <a:latin typeface="Arial"/>
              </a:rPr>
              <a:t>same cell, by area overlap</a:t>
            </a:r>
          </a:p>
        </p:txBody>
      </p:sp>
      <p:sp>
        <p:nvSpPr>
          <p:cNvPr id="15387" name="Right Arrow 15386"/>
          <p:cNvSpPr/>
          <p:nvPr/>
        </p:nvSpPr>
        <p:spPr>
          <a:xfrm>
            <a:off x="8619134" y="2249424"/>
            <a:ext cx="100584" cy="164592"/>
          </a:xfrm>
          <a:prstGeom prst="right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88" name="Picture 15387" descr="story_4_forecast.png"/>
          <p:cNvPicPr>
            <a:picLocks noChangeAspect="1"/>
          </p:cNvPicPr>
          <p:nvPr/>
        </p:nvPicPr>
        <p:blipFill>
          <a:blip r:embed="rId8"/>
          <a:stretch>
            <a:fillRect/>
          </a:stretch>
        </p:blipFill>
        <p:spPr>
          <a:xfrm>
            <a:off x="8728862" y="1993392"/>
            <a:ext cx="950976" cy="676656"/>
          </a:xfrm>
          <a:prstGeom prst="rect">
            <a:avLst/>
          </a:prstGeom>
          <a:ln w="9525">
            <a:solidFill>
              <a:srgbClr val="C9CED8"/>
            </a:solidFill>
          </a:ln>
        </p:spPr>
      </p:pic>
      <p:sp>
        <p:nvSpPr>
          <p:cNvPr id="15389" name="TextBox 15388"/>
          <p:cNvSpPr txBox="1"/>
          <p:nvPr/>
        </p:nvSpPr>
        <p:spPr>
          <a:xfrm>
            <a:off x="8692286" y="2697480"/>
            <a:ext cx="1024128" cy="329184"/>
          </a:xfrm>
          <a:prstGeom prst="rect">
            <a:avLst/>
          </a:prstGeom>
          <a:noFill/>
        </p:spPr>
        <p:txBody>
          <a:bodyPr wrap="square" anchor="t" lIns="9144" rIns="9144" tIns="9144" bIns="9144">
            <a:noAutofit/>
          </a:bodyPr>
          <a:lstStyle/>
          <a:p>
            <a:pPr algn="l">
              <a:spcAft>
                <a:spcPts val="200"/>
              </a:spcAft>
            </a:pPr>
            <a:r>
              <a:rPr sz="900" b="1" i="0">
                <a:solidFill>
                  <a:srgbClr val="138086"/>
                </a:solidFill>
                <a:latin typeface="Arial"/>
              </a:rPr>
              <a:t>4 FORECAST</a:t>
            </a:r>
          </a:p>
        </p:txBody>
      </p:sp>
      <p:sp>
        <p:nvSpPr>
          <p:cNvPr id="15390" name="TextBox 15389"/>
          <p:cNvSpPr txBox="1"/>
          <p:nvPr/>
        </p:nvSpPr>
        <p:spPr>
          <a:xfrm>
            <a:off x="8692286" y="3035808"/>
            <a:ext cx="1024128" cy="420624"/>
          </a:xfrm>
          <a:prstGeom prst="rect">
            <a:avLst/>
          </a:prstGeom>
          <a:noFill/>
        </p:spPr>
        <p:txBody>
          <a:bodyPr wrap="square" anchor="t" lIns="9144" rIns="9144" tIns="9144" bIns="9144">
            <a:noAutofit/>
          </a:bodyPr>
          <a:lstStyle/>
          <a:p>
            <a:pPr algn="l">
              <a:spcAft>
                <a:spcPts val="200"/>
              </a:spcAft>
            </a:pPr>
            <a:r>
              <a:rPr sz="900" b="0" i="0">
                <a:solidFill>
                  <a:srgbClr val="1C2433"/>
                </a:solidFill>
                <a:latin typeface="Arial"/>
              </a:rPr>
              <a:t>storm movement, 30 min – 6 h</a:t>
            </a:r>
          </a:p>
        </p:txBody>
      </p:sp>
      <p:sp>
        <p:nvSpPr>
          <p:cNvPr id="15391" name="Right Arrow 15390"/>
          <p:cNvSpPr/>
          <p:nvPr/>
        </p:nvSpPr>
        <p:spPr>
          <a:xfrm>
            <a:off x="9690811" y="2249424"/>
            <a:ext cx="100584" cy="164592"/>
          </a:xfrm>
          <a:prstGeom prst="right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92" name="Picture 15391" descr="story_5_prob.png"/>
          <p:cNvPicPr>
            <a:picLocks noChangeAspect="1"/>
          </p:cNvPicPr>
          <p:nvPr/>
        </p:nvPicPr>
        <p:blipFill>
          <a:blip r:embed="rId9"/>
          <a:stretch>
            <a:fillRect/>
          </a:stretch>
        </p:blipFill>
        <p:spPr>
          <a:xfrm>
            <a:off x="9800539" y="1993392"/>
            <a:ext cx="950976" cy="676656"/>
          </a:xfrm>
          <a:prstGeom prst="rect">
            <a:avLst/>
          </a:prstGeom>
          <a:ln w="9525">
            <a:solidFill>
              <a:srgbClr val="C9CED8"/>
            </a:solidFill>
          </a:ln>
        </p:spPr>
      </p:pic>
      <p:sp>
        <p:nvSpPr>
          <p:cNvPr id="15393" name="TextBox 15392"/>
          <p:cNvSpPr txBox="1"/>
          <p:nvPr/>
        </p:nvSpPr>
        <p:spPr>
          <a:xfrm>
            <a:off x="9763963" y="2697480"/>
            <a:ext cx="1024128" cy="329184"/>
          </a:xfrm>
          <a:prstGeom prst="rect">
            <a:avLst/>
          </a:prstGeom>
          <a:noFill/>
        </p:spPr>
        <p:txBody>
          <a:bodyPr wrap="square" anchor="t" lIns="9144" rIns="9144" tIns="9144" bIns="9144">
            <a:noAutofit/>
          </a:bodyPr>
          <a:lstStyle/>
          <a:p>
            <a:pPr algn="l">
              <a:spcAft>
                <a:spcPts val="200"/>
              </a:spcAft>
            </a:pPr>
            <a:r>
              <a:rPr sz="900" b="1" i="0">
                <a:solidFill>
                  <a:srgbClr val="138086"/>
                </a:solidFill>
                <a:latin typeface="Arial"/>
              </a:rPr>
              <a:t>5 PROBABILITY + SKILL</a:t>
            </a:r>
          </a:p>
        </p:txBody>
      </p:sp>
      <p:sp>
        <p:nvSpPr>
          <p:cNvPr id="15394" name="TextBox 15393"/>
          <p:cNvSpPr txBox="1"/>
          <p:nvPr/>
        </p:nvSpPr>
        <p:spPr>
          <a:xfrm>
            <a:off x="9763963" y="3035808"/>
            <a:ext cx="1024128" cy="420624"/>
          </a:xfrm>
          <a:prstGeom prst="rect">
            <a:avLst/>
          </a:prstGeom>
          <a:noFill/>
        </p:spPr>
        <p:txBody>
          <a:bodyPr wrap="square" anchor="t" lIns="9144" rIns="9144" tIns="9144" bIns="9144">
            <a:noAutofit/>
          </a:bodyPr>
          <a:lstStyle/>
          <a:p>
            <a:pPr algn="l">
              <a:spcAft>
                <a:spcPts val="200"/>
              </a:spcAft>
            </a:pPr>
            <a:r>
              <a:rPr sz="900" b="0" i="0">
                <a:solidFill>
                  <a:srgbClr val="1C2433"/>
                </a:solidFill>
                <a:latin typeface="Arial"/>
              </a:rPr>
              <a:t>calibrated, validated</a:t>
            </a:r>
          </a:p>
        </p:txBody>
      </p:sp>
      <p:sp>
        <p:nvSpPr>
          <p:cNvPr id="15395" name="Right Arrow 15394"/>
          <p:cNvSpPr/>
          <p:nvPr/>
        </p:nvSpPr>
        <p:spPr>
          <a:xfrm>
            <a:off x="10762488" y="2249424"/>
            <a:ext cx="100584" cy="164592"/>
          </a:xfrm>
          <a:prstGeom prst="right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96" name="Picture 15395" descr="story_6_replay.png"/>
          <p:cNvPicPr>
            <a:picLocks noChangeAspect="1"/>
          </p:cNvPicPr>
          <p:nvPr/>
        </p:nvPicPr>
        <p:blipFill>
          <a:blip r:embed="rId10"/>
          <a:stretch>
            <a:fillRect/>
          </a:stretch>
        </p:blipFill>
        <p:spPr>
          <a:xfrm>
            <a:off x="10872216" y="1993392"/>
            <a:ext cx="950976" cy="676656"/>
          </a:xfrm>
          <a:prstGeom prst="rect">
            <a:avLst/>
          </a:prstGeom>
          <a:ln w="9525">
            <a:solidFill>
              <a:srgbClr val="C9CED8"/>
            </a:solidFill>
          </a:ln>
        </p:spPr>
      </p:pic>
      <p:sp>
        <p:nvSpPr>
          <p:cNvPr id="15397" name="TextBox 15396"/>
          <p:cNvSpPr txBox="1"/>
          <p:nvPr/>
        </p:nvSpPr>
        <p:spPr>
          <a:xfrm>
            <a:off x="10835640" y="2697480"/>
            <a:ext cx="1024128" cy="329184"/>
          </a:xfrm>
          <a:prstGeom prst="rect">
            <a:avLst/>
          </a:prstGeom>
          <a:noFill/>
        </p:spPr>
        <p:txBody>
          <a:bodyPr wrap="square" anchor="t" lIns="9144" rIns="9144" tIns="9144" bIns="9144">
            <a:noAutofit/>
          </a:bodyPr>
          <a:lstStyle/>
          <a:p>
            <a:pPr algn="l">
              <a:spcAft>
                <a:spcPts val="200"/>
              </a:spcAft>
            </a:pPr>
            <a:r>
              <a:rPr sz="900" b="1" i="0">
                <a:solidFill>
                  <a:srgbClr val="B23A2E"/>
                </a:solidFill>
                <a:latin typeface="Arial"/>
              </a:rPr>
              <a:t>6 REPLAY / DECIDE</a:t>
            </a:r>
          </a:p>
        </p:txBody>
      </p:sp>
      <p:sp>
        <p:nvSpPr>
          <p:cNvPr id="15398" name="TextBox 15397"/>
          <p:cNvSpPr txBox="1"/>
          <p:nvPr/>
        </p:nvSpPr>
        <p:spPr>
          <a:xfrm>
            <a:off x="10835640" y="3035808"/>
            <a:ext cx="1024128" cy="420624"/>
          </a:xfrm>
          <a:prstGeom prst="rect">
            <a:avLst/>
          </a:prstGeom>
          <a:noFill/>
        </p:spPr>
        <p:txBody>
          <a:bodyPr wrap="square" anchor="t" lIns="9144" rIns="9144" tIns="9144" bIns="9144">
            <a:noAutofit/>
          </a:bodyPr>
          <a:lstStyle/>
          <a:p>
            <a:pPr algn="l">
              <a:spcAft>
                <a:spcPts val="200"/>
              </a:spcAft>
            </a:pPr>
            <a:r>
              <a:rPr sz="900" b="0" i="0">
                <a:solidFill>
                  <a:srgbClr val="1C2433"/>
                </a:solidFill>
                <a:latin typeface="Arial"/>
              </a:rPr>
              <a:t>knew · predicted · happened</a:t>
            </a:r>
          </a:p>
        </p:txBody>
      </p:sp>
      <p:sp>
        <p:nvSpPr>
          <p:cNvPr id="15399" name="Rounded Rectangle 15398"/>
          <p:cNvSpPr/>
          <p:nvPr/>
        </p:nvSpPr>
        <p:spPr>
          <a:xfrm>
            <a:off x="5513832" y="3493008"/>
            <a:ext cx="2194560" cy="118872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l">
              <a:spcAft>
                <a:spcPts val="200"/>
              </a:spcAft>
            </a:pPr>
            <a:r>
              <a:rPr sz="1050" b="1" i="0">
                <a:solidFill>
                  <a:srgbClr val="FFFFFF"/>
                </a:solidFill>
                <a:latin typeface="Arial"/>
              </a:rPr>
              <a:t>VALIDATED SKILL SHOWN BESIDE EVERY FORECAST</a:t>
            </a:r>
          </a:p>
          <a:p>
            <a:pPr algn="l">
              <a:spcAft>
                <a:spcPts val="200"/>
              </a:spcAft>
            </a:pPr>
            <a:r>
              <a:rPr sz="900" b="0" i="0">
                <a:solidFill>
                  <a:srgbClr val="FFFFFF"/>
                </a:solidFill>
                <a:latin typeface="Arial"/>
              </a:rPr>
              <a:t>3 held-out storm days, pooled</a:t>
            </a:r>
          </a:p>
        </p:txBody>
      </p:sp>
      <p:sp>
        <p:nvSpPr>
          <p:cNvPr id="15400" name="Rounded Rectangle 15399"/>
          <p:cNvSpPr/>
          <p:nvPr/>
        </p:nvSpPr>
        <p:spPr>
          <a:xfrm>
            <a:off x="7781544" y="3493008"/>
            <a:ext cx="1298448" cy="1188720"/>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200"/>
              </a:spcAft>
            </a:pPr>
            <a:r>
              <a:rPr sz="1500" b="1" i="0">
                <a:solidFill>
                  <a:srgbClr val="138086"/>
                </a:solidFill>
                <a:latin typeface="Arial"/>
              </a:rPr>
              <a:t>BSS 0.27</a:t>
            </a:r>
          </a:p>
          <a:p>
            <a:pPr algn="ctr">
              <a:spcAft>
                <a:spcPts val="200"/>
              </a:spcAft>
            </a:pPr>
            <a:r>
              <a:rPr sz="900" b="0" i="0">
                <a:solidFill>
                  <a:srgbClr val="1C2433"/>
                </a:solidFill>
                <a:latin typeface="Arial"/>
              </a:rPr>
              <a:t>ML probability skill at +2 h (no-fit ref. 0.02)</a:t>
            </a:r>
          </a:p>
        </p:txBody>
      </p:sp>
      <p:sp>
        <p:nvSpPr>
          <p:cNvPr id="15401" name="Rounded Rectangle 15400"/>
          <p:cNvSpPr/>
          <p:nvPr/>
        </p:nvSpPr>
        <p:spPr>
          <a:xfrm>
            <a:off x="9153144" y="3493008"/>
            <a:ext cx="1298448" cy="1188720"/>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200"/>
              </a:spcAft>
            </a:pPr>
            <a:r>
              <a:rPr sz="1500" b="1" i="0">
                <a:solidFill>
                  <a:srgbClr val="138086"/>
                </a:solidFill>
                <a:latin typeface="Arial"/>
              </a:rPr>
              <a:t>to ≈ 4 h</a:t>
            </a:r>
          </a:p>
          <a:p>
            <a:pPr algn="ctr">
              <a:spcAft>
                <a:spcPts val="200"/>
              </a:spcAft>
            </a:pPr>
            <a:r>
              <a:rPr sz="900" b="0" i="0">
                <a:solidFill>
                  <a:srgbClr val="1C2433"/>
                </a:solidFill>
                <a:latin typeface="Arial"/>
              </a:rPr>
              <a:t>best probability skill of the 4 methods tested</a:t>
            </a:r>
          </a:p>
        </p:txBody>
      </p:sp>
      <p:sp>
        <p:nvSpPr>
          <p:cNvPr id="15402" name="Rounded Rectangle 15401"/>
          <p:cNvSpPr/>
          <p:nvPr/>
        </p:nvSpPr>
        <p:spPr>
          <a:xfrm>
            <a:off x="10524744" y="3493008"/>
            <a:ext cx="1298448" cy="1188720"/>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200"/>
              </a:spcAft>
            </a:pPr>
            <a:r>
              <a:rPr sz="1500" b="1" i="0">
                <a:solidFill>
                  <a:srgbClr val="B23A2E"/>
                </a:solidFill>
                <a:latin typeface="Arial"/>
              </a:rPr>
              <a:t>1 h</a:t>
            </a:r>
          </a:p>
          <a:p>
            <a:pPr algn="ctr">
              <a:spcAft>
                <a:spcPts val="200"/>
              </a:spcAft>
            </a:pPr>
            <a:r>
              <a:rPr sz="900" b="0" i="0">
                <a:solidFill>
                  <a:srgbClr val="1C2433"/>
                </a:solidFill>
                <a:latin typeface="Arial"/>
              </a:rPr>
              <a:t>yes/no maps: no gain over pySTEPS beyond 1 h</a:t>
            </a:r>
          </a:p>
        </p:txBody>
      </p:sp>
      <p:sp>
        <p:nvSpPr>
          <p:cNvPr id="15403" name="TextBox 15402"/>
          <p:cNvSpPr txBox="1"/>
          <p:nvPr/>
        </p:nvSpPr>
        <p:spPr>
          <a:xfrm>
            <a:off x="320040" y="4828032"/>
            <a:ext cx="115214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INNOVATION AND UNIQUENESS OF THE SOLUTION</a:t>
            </a:r>
          </a:p>
        </p:txBody>
      </p:sp>
      <p:sp>
        <p:nvSpPr>
          <p:cNvPr id="15404" name="Rounded Rectangle 15403"/>
          <p:cNvSpPr/>
          <p:nvPr/>
        </p:nvSpPr>
        <p:spPr>
          <a:xfrm>
            <a:off x="320040" y="5093208"/>
            <a:ext cx="2816352" cy="749808"/>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5" name="Oval 15404"/>
          <p:cNvSpPr/>
          <p:nvPr/>
        </p:nvSpPr>
        <p:spPr>
          <a:xfrm>
            <a:off x="393192" y="5212080"/>
            <a:ext cx="274320" cy="274320"/>
          </a:xfrm>
          <a:prstGeom prst="ellipse">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00" b="1" i="0">
                <a:solidFill>
                  <a:srgbClr val="FFFFFF"/>
                </a:solidFill>
                <a:latin typeface="Arial"/>
              </a:rPr>
              <a:t>1</a:t>
            </a:r>
          </a:p>
        </p:txBody>
      </p:sp>
      <p:sp>
        <p:nvSpPr>
          <p:cNvPr id="15406" name="TextBox 15405"/>
          <p:cNvSpPr txBox="1"/>
          <p:nvPr/>
        </p:nvSpPr>
        <p:spPr>
          <a:xfrm>
            <a:off x="722376" y="5120640"/>
            <a:ext cx="2377440" cy="713232"/>
          </a:xfrm>
          <a:prstGeom prst="rect">
            <a:avLst/>
          </a:prstGeom>
          <a:noFill/>
        </p:spPr>
        <p:txBody>
          <a:bodyPr wrap="square" anchor="t" lIns="27432" rIns="27432" tIns="27432" bIns="27432">
            <a:noAutofit/>
          </a:bodyPr>
          <a:lstStyle/>
          <a:p>
            <a:pPr algn="l">
              <a:spcAft>
                <a:spcPts val="200"/>
              </a:spcAft>
            </a:pPr>
            <a:r>
              <a:rPr sz="1000" b="1" i="0">
                <a:solidFill>
                  <a:srgbClr val="1F2A44"/>
                </a:solidFill>
                <a:latin typeface="Arial"/>
              </a:rPr>
              <a:t>Real storm days only</a:t>
            </a:r>
          </a:p>
          <a:p>
            <a:pPr algn="l">
              <a:spcAft>
                <a:spcPts val="200"/>
              </a:spcAft>
            </a:pPr>
            <a:r>
              <a:rPr sz="919" b="0" i="0">
                <a:solidFill>
                  <a:srgbClr val="1C2433"/>
                </a:solidFill>
                <a:latin typeface="Arial"/>
              </a:rPr>
              <a:t>No simulated radar, lightning or metrics; days fixed before scoring</a:t>
            </a:r>
          </a:p>
        </p:txBody>
      </p:sp>
      <p:sp>
        <p:nvSpPr>
          <p:cNvPr id="15407" name="Rounded Rectangle 15406"/>
          <p:cNvSpPr/>
          <p:nvPr/>
        </p:nvSpPr>
        <p:spPr>
          <a:xfrm>
            <a:off x="3236976" y="5093208"/>
            <a:ext cx="2816352" cy="749808"/>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8" name="Oval 15407"/>
          <p:cNvSpPr/>
          <p:nvPr/>
        </p:nvSpPr>
        <p:spPr>
          <a:xfrm>
            <a:off x="3310128" y="5212080"/>
            <a:ext cx="274320" cy="274320"/>
          </a:xfrm>
          <a:prstGeom prst="ellipse">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00" b="1" i="0">
                <a:solidFill>
                  <a:srgbClr val="FFFFFF"/>
                </a:solidFill>
                <a:latin typeface="Arial"/>
              </a:rPr>
              <a:t>2</a:t>
            </a:r>
          </a:p>
        </p:txBody>
      </p:sp>
      <p:sp>
        <p:nvSpPr>
          <p:cNvPr id="15409" name="TextBox 15408"/>
          <p:cNvSpPr txBox="1"/>
          <p:nvPr/>
        </p:nvSpPr>
        <p:spPr>
          <a:xfrm>
            <a:off x="3639312" y="5120640"/>
            <a:ext cx="2377440" cy="713232"/>
          </a:xfrm>
          <a:prstGeom prst="rect">
            <a:avLst/>
          </a:prstGeom>
          <a:noFill/>
        </p:spPr>
        <p:txBody>
          <a:bodyPr wrap="square" anchor="t" lIns="27432" rIns="27432" tIns="27432" bIns="27432">
            <a:noAutofit/>
          </a:bodyPr>
          <a:lstStyle/>
          <a:p>
            <a:pPr algn="l">
              <a:spcAft>
                <a:spcPts val="200"/>
              </a:spcAft>
            </a:pPr>
            <a:r>
              <a:rPr sz="1000" b="1" i="0">
                <a:solidFill>
                  <a:srgbClr val="1F2A44"/>
                </a:solidFill>
                <a:latin typeface="Arial"/>
              </a:rPr>
              <a:t>Baseline-first</a:t>
            </a:r>
          </a:p>
          <a:p>
            <a:pPr algn="l">
              <a:spcAft>
                <a:spcPts val="200"/>
              </a:spcAft>
            </a:pPr>
            <a:r>
              <a:rPr sz="919" b="0" i="0">
                <a:solidFill>
                  <a:srgbClr val="1C2433"/>
                </a:solidFill>
                <a:latin typeface="Arial"/>
              </a:rPr>
              <a:t>Every result vs persistence and pySTEPS; negative results reported</a:t>
            </a:r>
          </a:p>
        </p:txBody>
      </p:sp>
      <p:sp>
        <p:nvSpPr>
          <p:cNvPr id="15410" name="Rounded Rectangle 15409"/>
          <p:cNvSpPr/>
          <p:nvPr/>
        </p:nvSpPr>
        <p:spPr>
          <a:xfrm>
            <a:off x="6153912" y="5093208"/>
            <a:ext cx="2816352" cy="749808"/>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1" name="Oval 15410"/>
          <p:cNvSpPr/>
          <p:nvPr/>
        </p:nvSpPr>
        <p:spPr>
          <a:xfrm>
            <a:off x="6227064" y="5212080"/>
            <a:ext cx="274320" cy="274320"/>
          </a:xfrm>
          <a:prstGeom prst="ellipse">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00" b="1" i="0">
                <a:solidFill>
                  <a:srgbClr val="FFFFFF"/>
                </a:solidFill>
                <a:latin typeface="Arial"/>
              </a:rPr>
              <a:t>3</a:t>
            </a:r>
          </a:p>
        </p:txBody>
      </p:sp>
      <p:sp>
        <p:nvSpPr>
          <p:cNvPr id="15412" name="TextBox 15411"/>
          <p:cNvSpPr txBox="1"/>
          <p:nvPr/>
        </p:nvSpPr>
        <p:spPr>
          <a:xfrm>
            <a:off x="6556248" y="5120640"/>
            <a:ext cx="2377440" cy="713232"/>
          </a:xfrm>
          <a:prstGeom prst="rect">
            <a:avLst/>
          </a:prstGeom>
          <a:noFill/>
        </p:spPr>
        <p:txBody>
          <a:bodyPr wrap="square" anchor="t" lIns="27432" rIns="27432" tIns="27432" bIns="27432">
            <a:noAutofit/>
          </a:bodyPr>
          <a:lstStyle/>
          <a:p>
            <a:pPr algn="l">
              <a:spcAft>
                <a:spcPts val="200"/>
              </a:spcAft>
            </a:pPr>
            <a:r>
              <a:rPr sz="1000" b="1" i="0">
                <a:solidFill>
                  <a:srgbClr val="1F2A44"/>
                </a:solidFill>
                <a:latin typeface="Arial"/>
              </a:rPr>
              <a:t>Calibrated probability</a:t>
            </a:r>
          </a:p>
          <a:p>
            <a:pPr algn="l">
              <a:spcAft>
                <a:spcPts val="200"/>
              </a:spcAft>
            </a:pPr>
            <a:r>
              <a:rPr sz="919" b="0" i="0">
                <a:solidFill>
                  <a:srgbClr val="1C2433"/>
                </a:solidFill>
                <a:latin typeface="Arial"/>
              </a:rPr>
              <a:t>Reliability and validated skill shown with each forecast</a:t>
            </a:r>
          </a:p>
        </p:txBody>
      </p:sp>
      <p:sp>
        <p:nvSpPr>
          <p:cNvPr id="15413" name="Rounded Rectangle 15412"/>
          <p:cNvSpPr/>
          <p:nvPr/>
        </p:nvSpPr>
        <p:spPr>
          <a:xfrm>
            <a:off x="9070848" y="5093208"/>
            <a:ext cx="2816352" cy="749808"/>
          </a:xfrm>
          <a:prstGeom prst="roundRect">
            <a:avLst>
              <a:gd name="adj" fmla="val 7000"/>
            </a:avLst>
          </a:prstGeom>
          <a:solidFill>
            <a:srgbClr val="FFFFFF"/>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4" name="Oval 15413"/>
          <p:cNvSpPr/>
          <p:nvPr/>
        </p:nvSpPr>
        <p:spPr>
          <a:xfrm>
            <a:off x="9144000" y="5212080"/>
            <a:ext cx="274320" cy="274320"/>
          </a:xfrm>
          <a:prstGeom prst="ellipse">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00" b="1" i="0">
                <a:solidFill>
                  <a:srgbClr val="FFFFFF"/>
                </a:solidFill>
                <a:latin typeface="Arial"/>
              </a:rPr>
              <a:t>4</a:t>
            </a:r>
          </a:p>
        </p:txBody>
      </p:sp>
      <p:sp>
        <p:nvSpPr>
          <p:cNvPr id="15415" name="TextBox 15414"/>
          <p:cNvSpPr txBox="1"/>
          <p:nvPr/>
        </p:nvSpPr>
        <p:spPr>
          <a:xfrm>
            <a:off x="9473184" y="5120640"/>
            <a:ext cx="2377440" cy="713232"/>
          </a:xfrm>
          <a:prstGeom prst="rect">
            <a:avLst/>
          </a:prstGeom>
          <a:noFill/>
        </p:spPr>
        <p:txBody>
          <a:bodyPr wrap="square" anchor="t" lIns="27432" rIns="27432" tIns="27432" bIns="27432">
            <a:noAutofit/>
          </a:bodyPr>
          <a:lstStyle/>
          <a:p>
            <a:pPr algn="l">
              <a:spcAft>
                <a:spcPts val="200"/>
              </a:spcAft>
            </a:pPr>
            <a:r>
              <a:rPr sz="1000" b="1" i="0">
                <a:solidFill>
                  <a:srgbClr val="1F2A44"/>
                </a:solidFill>
                <a:latin typeface="Arial"/>
              </a:rPr>
              <a:t>Audited and frozen</a:t>
            </a:r>
          </a:p>
          <a:p>
            <a:pPr algn="l">
              <a:spcAft>
                <a:spcPts val="200"/>
              </a:spcAft>
            </a:pPr>
            <a:r>
              <a:rPr sz="919" b="0" i="0">
                <a:solidFill>
                  <a:srgbClr val="1C2433"/>
                </a:solidFill>
                <a:latin typeface="Arial"/>
              </a:rPr>
              <a:t>Tracking audited before use; 386 evidence files hash-locked</a:t>
            </a:r>
          </a:p>
        </p:txBody>
      </p:sp>
      <p:sp>
        <p:nvSpPr>
          <p:cNvPr id="15416" name="Rounded Rectangle 15415"/>
          <p:cNvSpPr/>
          <p:nvPr/>
        </p:nvSpPr>
        <p:spPr>
          <a:xfrm>
            <a:off x="320040" y="5916168"/>
            <a:ext cx="11567160" cy="365760"/>
          </a:xfrm>
          <a:prstGeom prst="roundRect">
            <a:avLst>
              <a:gd name="adj" fmla="val 3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noAutofit/>
          </a:bodyPr>
          <a:lstStyle/>
          <a:p>
            <a:pPr algn="ctr">
              <a:spcAft>
                <a:spcPts val="200"/>
              </a:spcAft>
            </a:pPr>
            <a:r>
              <a:rPr sz="1050" b="1" i="0">
                <a:solidFill>
                  <a:srgbClr val="FFFFFF"/>
                </a:solidFill>
                <a:latin typeface="Arial"/>
              </a:rPr>
              <a:t>RESEARCH PROTOTYPE</a:t>
            </a:r>
            <a:r>
              <a:rPr sz="1000" b="0" i="0">
                <a:solidFill>
                  <a:srgbClr val="FFFFFF"/>
                </a:solidFill>
                <a:latin typeface="Arial"/>
              </a:rPr>
              <a:t>  ·  real satellite data, held-out storm days  ·  hazard-specific (hail, lightning, rain) skill not claimed  ·  not live  ·  not an official IMD warning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SIH26084 - StormLife Nowcast</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a:t>THE FEVICONS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0040" y="1097280"/>
            <a:ext cx="274320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TECHNOLOGIES &amp; TOOLS</a:t>
            </a:r>
          </a:p>
        </p:txBody>
      </p:sp>
      <p:sp>
        <p:nvSpPr>
          <p:cNvPr id="17411" name="TextBox 17410"/>
          <p:cNvSpPr txBox="1"/>
          <p:nvPr/>
        </p:nvSpPr>
        <p:spPr>
          <a:xfrm>
            <a:off x="3291840" y="1097280"/>
            <a:ext cx="493776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METHODOLOGY AND PROCESS: HOW STORMLIFE WORKS</a:t>
            </a:r>
          </a:p>
        </p:txBody>
      </p:sp>
      <p:sp>
        <p:nvSpPr>
          <p:cNvPr id="17412" name="TextBox 17411"/>
          <p:cNvSpPr txBox="1"/>
          <p:nvPr/>
        </p:nvSpPr>
        <p:spPr>
          <a:xfrm>
            <a:off x="8641080" y="1097280"/>
            <a:ext cx="324612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WORKING PROTOTYPE: WHAT IT PRODUCES</a:t>
            </a:r>
          </a:p>
        </p:txBody>
      </p:sp>
      <p:sp>
        <p:nvSpPr>
          <p:cNvPr id="17413" name="Rounded Rectangle 17412"/>
          <p:cNvSpPr/>
          <p:nvPr/>
        </p:nvSpPr>
        <p:spPr>
          <a:xfrm>
            <a:off x="320040" y="1389888"/>
            <a:ext cx="1325880" cy="2066544"/>
          </a:xfrm>
          <a:prstGeom prst="roundRect">
            <a:avLst>
              <a:gd name="adj" fmla="val 8000"/>
            </a:avLst>
          </a:prstGeom>
          <a:solidFill>
            <a:srgbClr val="FFFFFF"/>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Oval 17413"/>
          <p:cNvSpPr/>
          <p:nvPr/>
        </p:nvSpPr>
        <p:spPr>
          <a:xfrm>
            <a:off x="393192" y="1499616"/>
            <a:ext cx="274320" cy="27432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50" b="1" i="0">
                <a:solidFill>
                  <a:srgbClr val="FFFFFF"/>
                </a:solidFill>
                <a:latin typeface="Arial"/>
              </a:rPr>
              <a:t>1</a:t>
            </a:r>
          </a:p>
        </p:txBody>
      </p:sp>
      <p:sp>
        <p:nvSpPr>
          <p:cNvPr id="17415" name="TextBox 17414"/>
          <p:cNvSpPr txBox="1"/>
          <p:nvPr/>
        </p:nvSpPr>
        <p:spPr>
          <a:xfrm>
            <a:off x="704088" y="1444752"/>
            <a:ext cx="905256" cy="402336"/>
          </a:xfrm>
          <a:prstGeom prst="rect">
            <a:avLst/>
          </a:prstGeom>
          <a:noFill/>
        </p:spPr>
        <p:txBody>
          <a:bodyPr wrap="square" anchor="ctr" lIns="9144" rIns="9144" tIns="9144" bIns="9144">
            <a:noAutofit/>
          </a:bodyPr>
          <a:lstStyle/>
          <a:p>
            <a:pPr algn="l">
              <a:spcAft>
                <a:spcPts val="200"/>
              </a:spcAft>
            </a:pPr>
            <a:r>
              <a:rPr sz="900" b="1" i="0">
                <a:solidFill>
                  <a:srgbClr val="1F2A44"/>
                </a:solidFill>
                <a:latin typeface="Arial"/>
              </a:rPr>
              <a:t>DATA &amp;</a:t>
            </a:r>
          </a:p>
          <a:p>
            <a:pPr algn="l">
              <a:spcAft>
                <a:spcPts val="200"/>
              </a:spcAft>
            </a:pPr>
            <a:r>
              <a:rPr sz="900" b="1" i="0">
                <a:solidFill>
                  <a:srgbClr val="1F2A44"/>
                </a:solidFill>
                <a:latin typeface="Arial"/>
              </a:rPr>
              <a:t>SCIENCE</a:t>
            </a:r>
          </a:p>
        </p:txBody>
      </p:sp>
      <p:sp>
        <p:nvSpPr>
          <p:cNvPr id="17416" name="TextBox 17415"/>
          <p:cNvSpPr txBox="1"/>
          <p:nvPr/>
        </p:nvSpPr>
        <p:spPr>
          <a:xfrm>
            <a:off x="411479" y="1901952"/>
            <a:ext cx="1143000" cy="969264"/>
          </a:xfrm>
          <a:prstGeom prst="rect">
            <a:avLst/>
          </a:prstGeom>
          <a:noFill/>
        </p:spPr>
        <p:txBody>
          <a:bodyPr wrap="square" anchor="t" lIns="9144" rIns="9144" tIns="9144" bIns="9144">
            <a:noAutofit/>
          </a:bodyPr>
          <a:lstStyle/>
          <a:p>
            <a:pPr algn="l">
              <a:spcAft>
                <a:spcPts val="200"/>
              </a:spcAft>
            </a:pPr>
            <a:r>
              <a:rPr sz="1000" b="1" i="0">
                <a:solidFill>
                  <a:srgbClr val="1C2433"/>
                </a:solidFill>
                <a:latin typeface="Arial"/>
              </a:rPr>
              <a:t>Python</a:t>
            </a:r>
          </a:p>
          <a:p>
            <a:pPr algn="l">
              <a:spcAft>
                <a:spcPts val="200"/>
              </a:spcAft>
            </a:pPr>
            <a:r>
              <a:rPr sz="1000" b="1" i="0">
                <a:solidFill>
                  <a:srgbClr val="1C2433"/>
                </a:solidFill>
                <a:latin typeface="Arial"/>
              </a:rPr>
              <a:t>NumPy</a:t>
            </a:r>
          </a:p>
          <a:p>
            <a:pPr algn="l">
              <a:spcAft>
                <a:spcPts val="200"/>
              </a:spcAft>
            </a:pPr>
            <a:r>
              <a:rPr sz="1000" b="1" i="0">
                <a:solidFill>
                  <a:srgbClr val="1C2433"/>
                </a:solidFill>
                <a:latin typeface="Arial"/>
              </a:rPr>
              <a:t>pandas</a:t>
            </a:r>
          </a:p>
          <a:p>
            <a:pPr algn="l">
              <a:spcAft>
                <a:spcPts val="200"/>
              </a:spcAft>
            </a:pPr>
            <a:r>
              <a:rPr sz="1000" b="1" i="0">
                <a:solidFill>
                  <a:srgbClr val="1C2433"/>
                </a:solidFill>
                <a:latin typeface="Arial"/>
              </a:rPr>
              <a:t>xarray</a:t>
            </a:r>
          </a:p>
          <a:p>
            <a:pPr algn="l">
              <a:spcAft>
                <a:spcPts val="200"/>
              </a:spcAft>
            </a:pPr>
            <a:r>
              <a:rPr sz="1000" b="1" i="0">
                <a:solidFill>
                  <a:srgbClr val="1C2433"/>
                </a:solidFill>
                <a:latin typeface="Arial"/>
              </a:rPr>
              <a:t>SciPy</a:t>
            </a:r>
          </a:p>
        </p:txBody>
      </p:sp>
      <p:sp>
        <p:nvSpPr>
          <p:cNvPr id="17417" name="Rounded Rectangle 17416"/>
          <p:cNvSpPr/>
          <p:nvPr/>
        </p:nvSpPr>
        <p:spPr>
          <a:xfrm>
            <a:off x="374904" y="2889504"/>
            <a:ext cx="1216152" cy="51206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spcAft>
                <a:spcPts val="200"/>
              </a:spcAft>
            </a:pPr>
            <a:r>
              <a:rPr sz="880" b="0" i="1">
                <a:solidFill>
                  <a:srgbClr val="1C2433"/>
                </a:solidFill>
                <a:latin typeface="Arial"/>
              </a:rPr>
              <a:t>Satellite processing &amp; numerical analysis</a:t>
            </a:r>
          </a:p>
        </p:txBody>
      </p:sp>
      <p:sp>
        <p:nvSpPr>
          <p:cNvPr id="17418" name="Rounded Rectangle 17417"/>
          <p:cNvSpPr/>
          <p:nvPr/>
        </p:nvSpPr>
        <p:spPr>
          <a:xfrm>
            <a:off x="1737360" y="1389888"/>
            <a:ext cx="1325880" cy="2066544"/>
          </a:xfrm>
          <a:prstGeom prst="roundRect">
            <a:avLst>
              <a:gd name="adj" fmla="val 8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Oval 17418"/>
          <p:cNvSpPr/>
          <p:nvPr/>
        </p:nvSpPr>
        <p:spPr>
          <a:xfrm>
            <a:off x="1810512" y="1499616"/>
            <a:ext cx="274320" cy="274320"/>
          </a:xfrm>
          <a:prstGeom prst="ellipse">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50" b="1" i="0">
                <a:solidFill>
                  <a:srgbClr val="FFFFFF"/>
                </a:solidFill>
                <a:latin typeface="Arial"/>
              </a:rPr>
              <a:t>2</a:t>
            </a:r>
          </a:p>
        </p:txBody>
      </p:sp>
      <p:sp>
        <p:nvSpPr>
          <p:cNvPr id="17420" name="TextBox 17419"/>
          <p:cNvSpPr txBox="1"/>
          <p:nvPr/>
        </p:nvSpPr>
        <p:spPr>
          <a:xfrm>
            <a:off x="2121408" y="1444752"/>
            <a:ext cx="905256" cy="402336"/>
          </a:xfrm>
          <a:prstGeom prst="rect">
            <a:avLst/>
          </a:prstGeom>
          <a:noFill/>
        </p:spPr>
        <p:txBody>
          <a:bodyPr wrap="square" anchor="ctr" lIns="9144" rIns="9144" tIns="9144" bIns="9144">
            <a:noAutofit/>
          </a:bodyPr>
          <a:lstStyle/>
          <a:p>
            <a:pPr algn="l">
              <a:spcAft>
                <a:spcPts val="200"/>
              </a:spcAft>
            </a:pPr>
            <a:r>
              <a:rPr sz="900" b="1" i="0">
                <a:solidFill>
                  <a:srgbClr val="138086"/>
                </a:solidFill>
                <a:latin typeface="Arial"/>
              </a:rPr>
              <a:t>STORM</a:t>
            </a:r>
          </a:p>
          <a:p>
            <a:pPr algn="l">
              <a:spcAft>
                <a:spcPts val="200"/>
              </a:spcAft>
            </a:pPr>
            <a:r>
              <a:rPr sz="900" b="1" i="0">
                <a:solidFill>
                  <a:srgbClr val="138086"/>
                </a:solidFill>
                <a:latin typeface="Arial"/>
              </a:rPr>
              <a:t>INTELLIGENCE</a:t>
            </a:r>
          </a:p>
        </p:txBody>
      </p:sp>
      <p:sp>
        <p:nvSpPr>
          <p:cNvPr id="17421" name="TextBox 17420"/>
          <p:cNvSpPr txBox="1"/>
          <p:nvPr/>
        </p:nvSpPr>
        <p:spPr>
          <a:xfrm>
            <a:off x="1828800" y="1901952"/>
            <a:ext cx="1143000" cy="969264"/>
          </a:xfrm>
          <a:prstGeom prst="rect">
            <a:avLst/>
          </a:prstGeom>
          <a:noFill/>
        </p:spPr>
        <p:txBody>
          <a:bodyPr wrap="square" anchor="t" lIns="9144" rIns="9144" tIns="9144" bIns="9144">
            <a:noAutofit/>
          </a:bodyPr>
          <a:lstStyle/>
          <a:p>
            <a:pPr algn="l">
              <a:spcAft>
                <a:spcPts val="200"/>
              </a:spcAft>
            </a:pPr>
            <a:r>
              <a:rPr sz="1000" b="1" i="0">
                <a:solidFill>
                  <a:srgbClr val="1C2433"/>
                </a:solidFill>
                <a:latin typeface="Arial"/>
              </a:rPr>
              <a:t>OpenCV</a:t>
            </a:r>
          </a:p>
          <a:p>
            <a:pPr algn="l">
              <a:spcAft>
                <a:spcPts val="200"/>
              </a:spcAft>
            </a:pPr>
            <a:r>
              <a:rPr sz="1000" b="1" i="0">
                <a:solidFill>
                  <a:srgbClr val="1C2433"/>
                </a:solidFill>
                <a:latin typeface="Arial"/>
              </a:rPr>
              <a:t>scikit-image</a:t>
            </a:r>
          </a:p>
          <a:p>
            <a:pPr algn="l">
              <a:spcAft>
                <a:spcPts val="200"/>
              </a:spcAft>
            </a:pPr>
            <a:r>
              <a:rPr sz="1000" b="1" i="0">
                <a:solidFill>
                  <a:srgbClr val="1C2433"/>
                </a:solidFill>
                <a:latin typeface="Arial"/>
              </a:rPr>
              <a:t>custom overlap tracking</a:t>
            </a:r>
          </a:p>
          <a:p>
            <a:pPr algn="l">
              <a:spcAft>
                <a:spcPts val="200"/>
              </a:spcAft>
            </a:pPr>
            <a:r>
              <a:rPr sz="1000" b="1" i="0">
                <a:solidFill>
                  <a:srgbClr val="1C2433"/>
                </a:solidFill>
                <a:latin typeface="Arial"/>
              </a:rPr>
              <a:t>optical flow</a:t>
            </a:r>
          </a:p>
        </p:txBody>
      </p:sp>
      <p:sp>
        <p:nvSpPr>
          <p:cNvPr id="17422" name="Rounded Rectangle 17421"/>
          <p:cNvSpPr/>
          <p:nvPr/>
        </p:nvSpPr>
        <p:spPr>
          <a:xfrm>
            <a:off x="1792224" y="2889504"/>
            <a:ext cx="1216152" cy="51206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spcAft>
                <a:spcPts val="200"/>
              </a:spcAft>
            </a:pPr>
            <a:r>
              <a:rPr sz="880" b="0" i="1">
                <a:solidFill>
                  <a:srgbClr val="1C2433"/>
                </a:solidFill>
                <a:latin typeface="Arial"/>
              </a:rPr>
              <a:t>Detect, track &amp; characterize storm cells</a:t>
            </a:r>
          </a:p>
        </p:txBody>
      </p:sp>
      <p:sp>
        <p:nvSpPr>
          <p:cNvPr id="17423" name="Rounded Rectangle 17422"/>
          <p:cNvSpPr/>
          <p:nvPr/>
        </p:nvSpPr>
        <p:spPr>
          <a:xfrm>
            <a:off x="320040" y="3547872"/>
            <a:ext cx="1325880" cy="2066544"/>
          </a:xfrm>
          <a:prstGeom prst="roundRect">
            <a:avLst>
              <a:gd name="adj" fmla="val 8000"/>
            </a:avLst>
          </a:prstGeom>
          <a:solidFill>
            <a:srgbClr val="FFFFFF"/>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Oval 17423"/>
          <p:cNvSpPr/>
          <p:nvPr/>
        </p:nvSpPr>
        <p:spPr>
          <a:xfrm>
            <a:off x="393192" y="3657600"/>
            <a:ext cx="274320" cy="27432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50" b="1" i="0">
                <a:solidFill>
                  <a:srgbClr val="FFFFFF"/>
                </a:solidFill>
                <a:latin typeface="Arial"/>
              </a:rPr>
              <a:t>3</a:t>
            </a:r>
          </a:p>
        </p:txBody>
      </p:sp>
      <p:sp>
        <p:nvSpPr>
          <p:cNvPr id="17425" name="TextBox 17424"/>
          <p:cNvSpPr txBox="1"/>
          <p:nvPr/>
        </p:nvSpPr>
        <p:spPr>
          <a:xfrm>
            <a:off x="704088" y="3602736"/>
            <a:ext cx="905256" cy="402336"/>
          </a:xfrm>
          <a:prstGeom prst="rect">
            <a:avLst/>
          </a:prstGeom>
          <a:noFill/>
        </p:spPr>
        <p:txBody>
          <a:bodyPr wrap="square" anchor="ctr" lIns="9144" rIns="9144" tIns="9144" bIns="9144">
            <a:noAutofit/>
          </a:bodyPr>
          <a:lstStyle/>
          <a:p>
            <a:pPr algn="l">
              <a:spcAft>
                <a:spcPts val="200"/>
              </a:spcAft>
            </a:pPr>
            <a:r>
              <a:rPr sz="900" b="1" i="0">
                <a:solidFill>
                  <a:srgbClr val="1F6FB2"/>
                </a:solidFill>
                <a:latin typeface="Arial"/>
              </a:rPr>
              <a:t>FORECAST &amp;</a:t>
            </a:r>
          </a:p>
          <a:p>
            <a:pPr algn="l">
              <a:spcAft>
                <a:spcPts val="200"/>
              </a:spcAft>
            </a:pPr>
            <a:r>
              <a:rPr sz="900" b="1" i="0">
                <a:solidFill>
                  <a:srgbClr val="1F6FB2"/>
                </a:solidFill>
                <a:latin typeface="Arial"/>
              </a:rPr>
              <a:t>VALIDATION</a:t>
            </a:r>
          </a:p>
        </p:txBody>
      </p:sp>
      <p:sp>
        <p:nvSpPr>
          <p:cNvPr id="17426" name="TextBox 17425"/>
          <p:cNvSpPr txBox="1"/>
          <p:nvPr/>
        </p:nvSpPr>
        <p:spPr>
          <a:xfrm>
            <a:off x="411479" y="4059936"/>
            <a:ext cx="1143000" cy="969264"/>
          </a:xfrm>
          <a:prstGeom prst="rect">
            <a:avLst/>
          </a:prstGeom>
          <a:noFill/>
        </p:spPr>
        <p:txBody>
          <a:bodyPr wrap="square" anchor="t" lIns="9144" rIns="9144" tIns="9144" bIns="9144">
            <a:noAutofit/>
          </a:bodyPr>
          <a:lstStyle/>
          <a:p>
            <a:pPr algn="l">
              <a:spcAft>
                <a:spcPts val="200"/>
              </a:spcAft>
            </a:pPr>
            <a:r>
              <a:rPr sz="1000" b="1" i="0">
                <a:solidFill>
                  <a:srgbClr val="1C2433"/>
                </a:solidFill>
                <a:latin typeface="Arial"/>
              </a:rPr>
              <a:t>pySTEPS</a:t>
            </a:r>
          </a:p>
          <a:p>
            <a:pPr algn="l">
              <a:spcAft>
                <a:spcPts val="200"/>
              </a:spcAft>
            </a:pPr>
            <a:r>
              <a:rPr sz="1000" b="1" i="0">
                <a:solidFill>
                  <a:srgbClr val="1C2433"/>
                </a:solidFill>
                <a:latin typeface="Arial"/>
              </a:rPr>
              <a:t>scikit-learn</a:t>
            </a:r>
          </a:p>
          <a:p>
            <a:pPr algn="l">
              <a:spcAft>
                <a:spcPts val="200"/>
              </a:spcAft>
            </a:pPr>
            <a:r>
              <a:rPr sz="1000" b="1" i="0">
                <a:solidFill>
                  <a:srgbClr val="1C2433"/>
                </a:solidFill>
                <a:latin typeface="Arial"/>
              </a:rPr>
              <a:t>isotonic calibration</a:t>
            </a:r>
          </a:p>
          <a:p>
            <a:pPr algn="l">
              <a:spcAft>
                <a:spcPts val="200"/>
              </a:spcAft>
            </a:pPr>
            <a:r>
              <a:rPr sz="1000" b="1" i="0">
                <a:solidFill>
                  <a:srgbClr val="1C2433"/>
                </a:solidFill>
                <a:latin typeface="Arial"/>
              </a:rPr>
              <a:t>pytest</a:t>
            </a:r>
          </a:p>
        </p:txBody>
      </p:sp>
      <p:sp>
        <p:nvSpPr>
          <p:cNvPr id="17427" name="Rounded Rectangle 17426"/>
          <p:cNvSpPr/>
          <p:nvPr/>
        </p:nvSpPr>
        <p:spPr>
          <a:xfrm>
            <a:off x="374904" y="5047488"/>
            <a:ext cx="1216152" cy="51206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spcAft>
                <a:spcPts val="200"/>
              </a:spcAft>
            </a:pPr>
            <a:r>
              <a:rPr sz="880" b="0" i="1">
                <a:solidFill>
                  <a:srgbClr val="1C2433"/>
                </a:solidFill>
                <a:latin typeface="Arial"/>
              </a:rPr>
              <a:t>Forecast, calibrate &amp; verify</a:t>
            </a:r>
          </a:p>
        </p:txBody>
      </p:sp>
      <p:sp>
        <p:nvSpPr>
          <p:cNvPr id="17428" name="Rounded Rectangle 17427"/>
          <p:cNvSpPr/>
          <p:nvPr/>
        </p:nvSpPr>
        <p:spPr>
          <a:xfrm>
            <a:off x="1737360" y="3547872"/>
            <a:ext cx="1325880" cy="2066544"/>
          </a:xfrm>
          <a:prstGeom prst="roundRect">
            <a:avLst>
              <a:gd name="adj" fmla="val 8000"/>
            </a:avLst>
          </a:prstGeom>
          <a:solidFill>
            <a:srgbClr val="FFFFFF"/>
          </a:solidFill>
          <a:ln w="1587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Oval 17428"/>
          <p:cNvSpPr/>
          <p:nvPr/>
        </p:nvSpPr>
        <p:spPr>
          <a:xfrm>
            <a:off x="1810512" y="3657600"/>
            <a:ext cx="274320" cy="274320"/>
          </a:xfrm>
          <a:prstGeom prst="ellipse">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050" b="1" i="0">
                <a:solidFill>
                  <a:srgbClr val="FFFFFF"/>
                </a:solidFill>
                <a:latin typeface="Arial"/>
              </a:rPr>
              <a:t>4</a:t>
            </a:r>
          </a:p>
        </p:txBody>
      </p:sp>
      <p:sp>
        <p:nvSpPr>
          <p:cNvPr id="17430" name="TextBox 17429"/>
          <p:cNvSpPr txBox="1"/>
          <p:nvPr/>
        </p:nvSpPr>
        <p:spPr>
          <a:xfrm>
            <a:off x="2121408" y="3602736"/>
            <a:ext cx="905256" cy="402336"/>
          </a:xfrm>
          <a:prstGeom prst="rect">
            <a:avLst/>
          </a:prstGeom>
          <a:noFill/>
        </p:spPr>
        <p:txBody>
          <a:bodyPr wrap="square" anchor="ctr" lIns="9144" rIns="9144" tIns="9144" bIns="9144">
            <a:noAutofit/>
          </a:bodyPr>
          <a:lstStyle/>
          <a:p>
            <a:pPr algn="l">
              <a:spcAft>
                <a:spcPts val="200"/>
              </a:spcAft>
            </a:pPr>
            <a:r>
              <a:rPr sz="900" b="1" i="0">
                <a:solidFill>
                  <a:srgbClr val="B23A2E"/>
                </a:solidFill>
                <a:latin typeface="Arial"/>
              </a:rPr>
              <a:t>PRODUCT</a:t>
            </a:r>
          </a:p>
        </p:txBody>
      </p:sp>
      <p:sp>
        <p:nvSpPr>
          <p:cNvPr id="17431" name="TextBox 17430"/>
          <p:cNvSpPr txBox="1"/>
          <p:nvPr/>
        </p:nvSpPr>
        <p:spPr>
          <a:xfrm>
            <a:off x="1828800" y="4059936"/>
            <a:ext cx="1143000" cy="969264"/>
          </a:xfrm>
          <a:prstGeom prst="rect">
            <a:avLst/>
          </a:prstGeom>
          <a:noFill/>
        </p:spPr>
        <p:txBody>
          <a:bodyPr wrap="square" anchor="t" lIns="9144" rIns="9144" tIns="9144" bIns="9144">
            <a:noAutofit/>
          </a:bodyPr>
          <a:lstStyle/>
          <a:p>
            <a:pPr algn="l">
              <a:spcAft>
                <a:spcPts val="200"/>
              </a:spcAft>
            </a:pPr>
            <a:r>
              <a:rPr sz="1000" b="1" i="0">
                <a:solidFill>
                  <a:srgbClr val="1C2433"/>
                </a:solidFill>
                <a:latin typeface="Arial"/>
              </a:rPr>
              <a:t>React</a:t>
            </a:r>
          </a:p>
          <a:p>
            <a:pPr algn="l">
              <a:spcAft>
                <a:spcPts val="200"/>
              </a:spcAft>
            </a:pPr>
            <a:r>
              <a:rPr sz="1000" b="1" i="0">
                <a:solidFill>
                  <a:srgbClr val="1C2433"/>
                </a:solidFill>
                <a:latin typeface="Arial"/>
              </a:rPr>
              <a:t>TypeScript</a:t>
            </a:r>
          </a:p>
          <a:p>
            <a:pPr algn="l">
              <a:spcAft>
                <a:spcPts val="200"/>
              </a:spcAft>
            </a:pPr>
            <a:r>
              <a:rPr sz="1000" b="1" i="0">
                <a:solidFill>
                  <a:srgbClr val="1C2433"/>
                </a:solidFill>
                <a:latin typeface="Arial"/>
              </a:rPr>
              <a:t>Vite</a:t>
            </a:r>
          </a:p>
          <a:p>
            <a:pPr algn="l">
              <a:spcAft>
                <a:spcPts val="200"/>
              </a:spcAft>
            </a:pPr>
            <a:r>
              <a:rPr sz="1000" b="1" i="0">
                <a:solidFill>
                  <a:srgbClr val="1C2433"/>
                </a:solidFill>
                <a:latin typeface="Arial"/>
              </a:rPr>
              <a:t>MapLibre GL</a:t>
            </a:r>
          </a:p>
        </p:txBody>
      </p:sp>
      <p:sp>
        <p:nvSpPr>
          <p:cNvPr id="17432" name="Rounded Rectangle 17431"/>
          <p:cNvSpPr/>
          <p:nvPr/>
        </p:nvSpPr>
        <p:spPr>
          <a:xfrm>
            <a:off x="1792224" y="5047488"/>
            <a:ext cx="1216152" cy="51206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spcAft>
                <a:spcPts val="200"/>
              </a:spcAft>
            </a:pPr>
            <a:r>
              <a:rPr sz="880" b="0" i="1">
                <a:solidFill>
                  <a:srgbClr val="1C2433"/>
                </a:solidFill>
                <a:latin typeface="Arial"/>
              </a:rPr>
              <a:t>Interactive replay &amp; decision-support dashboard</a:t>
            </a:r>
          </a:p>
        </p:txBody>
      </p:sp>
      <p:sp>
        <p:nvSpPr>
          <p:cNvPr id="17433" name="Right Arrow 17432"/>
          <p:cNvSpPr/>
          <p:nvPr/>
        </p:nvSpPr>
        <p:spPr>
          <a:xfrm>
            <a:off x="3090672" y="3401568"/>
            <a:ext cx="173736" cy="21945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Oval 17433"/>
          <p:cNvSpPr/>
          <p:nvPr/>
        </p:nvSpPr>
        <p:spPr>
          <a:xfrm>
            <a:off x="3291840" y="1517904"/>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300" b="1" i="0">
                <a:solidFill>
                  <a:srgbClr val="FFFFFF"/>
                </a:solidFill>
                <a:latin typeface="Arial"/>
              </a:rPr>
              <a:t>1</a:t>
            </a:r>
          </a:p>
        </p:txBody>
      </p:sp>
      <p:sp>
        <p:nvSpPr>
          <p:cNvPr id="17435" name="Rounded Rectangle 17434"/>
          <p:cNvSpPr/>
          <p:nvPr/>
        </p:nvSpPr>
        <p:spPr>
          <a:xfrm>
            <a:off x="3767328" y="1417320"/>
            <a:ext cx="4462272" cy="585216"/>
          </a:xfrm>
          <a:prstGeom prst="roundRect">
            <a:avLst>
              <a:gd name="adj" fmla="val 14000"/>
            </a:avLst>
          </a:prstGeom>
          <a:solidFill>
            <a:srgbClr val="FFFFFF"/>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3840480" y="1435608"/>
            <a:ext cx="4334256" cy="548640"/>
          </a:xfrm>
          <a:prstGeom prst="rect">
            <a:avLst/>
          </a:prstGeom>
          <a:noFill/>
        </p:spPr>
        <p:txBody>
          <a:bodyPr wrap="square" anchor="ctr" lIns="27432" rIns="27432" tIns="27432" bIns="27432">
            <a:noAutofit/>
          </a:bodyPr>
          <a:lstStyle/>
          <a:p>
            <a:pPr algn="l">
              <a:spcAft>
                <a:spcPts val="200"/>
              </a:spcAft>
            </a:pPr>
            <a:r>
              <a:rPr sz="1100" b="1" i="0">
                <a:solidFill>
                  <a:srgbClr val="1F2A44"/>
                </a:solidFill>
                <a:latin typeface="Arial"/>
              </a:rPr>
              <a:t>REAL SATELLITE DATA</a:t>
            </a:r>
            <a:r>
              <a:rPr sz="960" b="0" i="1">
                <a:solidFill>
                  <a:srgbClr val="1C2433"/>
                </a:solidFill>
                <a:latin typeface="Arial"/>
              </a:rPr>
              <a:t>   What goes in: pictures of cloud-top temperature</a:t>
            </a:r>
          </a:p>
          <a:p>
            <a:pPr algn="l">
              <a:spcAft>
                <a:spcPts val="200"/>
              </a:spcAft>
            </a:pPr>
            <a:r>
              <a:rPr sz="930" b="0" i="0">
                <a:solidFill>
                  <a:srgbClr val="555E6B"/>
                </a:solidFill>
                <a:latin typeface="Arial"/>
              </a:rPr>
              <a:t>NOAA/NCEP/CPC merged IR · 4 km · 30-minute frames · 3 held-out storm days</a:t>
            </a:r>
          </a:p>
        </p:txBody>
      </p:sp>
      <p:sp>
        <p:nvSpPr>
          <p:cNvPr id="17437" name="Down Arrow 17436"/>
          <p:cNvSpPr/>
          <p:nvPr/>
        </p:nvSpPr>
        <p:spPr>
          <a:xfrm>
            <a:off x="3383280" y="2011679"/>
            <a:ext cx="201168" cy="11887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Oval 17437"/>
          <p:cNvSpPr/>
          <p:nvPr/>
        </p:nvSpPr>
        <p:spPr>
          <a:xfrm>
            <a:off x="3291840" y="2240279"/>
            <a:ext cx="384048" cy="38404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300" b="1" i="0">
                <a:solidFill>
                  <a:srgbClr val="FFFFFF"/>
                </a:solidFill>
                <a:latin typeface="Arial"/>
              </a:rPr>
              <a:t>2</a:t>
            </a:r>
          </a:p>
        </p:txBody>
      </p:sp>
      <p:sp>
        <p:nvSpPr>
          <p:cNvPr id="17439" name="Rounded Rectangle 17438"/>
          <p:cNvSpPr/>
          <p:nvPr/>
        </p:nvSpPr>
        <p:spPr>
          <a:xfrm>
            <a:off x="3767328" y="2139696"/>
            <a:ext cx="4462272" cy="585216"/>
          </a:xfrm>
          <a:prstGeom prst="roundRect">
            <a:avLst>
              <a:gd name="adj" fmla="val 14000"/>
            </a:avLst>
          </a:prstGeom>
          <a:solidFill>
            <a:srgbClr val="FFFFFF"/>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TextBox 17439"/>
          <p:cNvSpPr txBox="1"/>
          <p:nvPr/>
        </p:nvSpPr>
        <p:spPr>
          <a:xfrm>
            <a:off x="3840480" y="2157984"/>
            <a:ext cx="4334256" cy="548640"/>
          </a:xfrm>
          <a:prstGeom prst="rect">
            <a:avLst/>
          </a:prstGeom>
          <a:noFill/>
        </p:spPr>
        <p:txBody>
          <a:bodyPr wrap="square" anchor="ctr" lIns="27432" rIns="27432" tIns="27432" bIns="27432">
            <a:noAutofit/>
          </a:bodyPr>
          <a:lstStyle/>
          <a:p>
            <a:pPr algn="l">
              <a:spcAft>
                <a:spcPts val="200"/>
              </a:spcAft>
            </a:pPr>
            <a:r>
              <a:rPr sz="1100" b="1" i="0">
                <a:solidFill>
                  <a:srgbClr val="1F2A44"/>
                </a:solidFill>
                <a:latin typeface="Arial"/>
              </a:rPr>
              <a:t>QC + PREPROCESSING</a:t>
            </a:r>
            <a:r>
              <a:rPr sz="960" b="0" i="1">
                <a:solidFill>
                  <a:srgbClr val="1C2433"/>
                </a:solidFill>
                <a:latin typeface="Arial"/>
              </a:rPr>
              <a:t>   Clean every frame and put it on one map</a:t>
            </a:r>
          </a:p>
          <a:p>
            <a:pPr algn="l">
              <a:spcAft>
                <a:spcPts val="200"/>
              </a:spcAft>
            </a:pPr>
            <a:r>
              <a:rPr sz="930" b="0" i="0">
                <a:solidFill>
                  <a:srgbClr val="555E6B"/>
                </a:solidFill>
                <a:latin typeface="Arial"/>
              </a:rPr>
              <a:t>Decode · quality control · cloud-top temperature (BT) · 2 km grid</a:t>
            </a:r>
          </a:p>
        </p:txBody>
      </p:sp>
      <p:sp>
        <p:nvSpPr>
          <p:cNvPr id="17441" name="Down Arrow 17440"/>
          <p:cNvSpPr/>
          <p:nvPr/>
        </p:nvSpPr>
        <p:spPr>
          <a:xfrm>
            <a:off x="3383280" y="2734056"/>
            <a:ext cx="201168" cy="11887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Oval 17441"/>
          <p:cNvSpPr/>
          <p:nvPr/>
        </p:nvSpPr>
        <p:spPr>
          <a:xfrm>
            <a:off x="3291840" y="2962656"/>
            <a:ext cx="384048" cy="384048"/>
          </a:xfrm>
          <a:prstGeom prst="ellipse">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300" b="1" i="0">
                <a:solidFill>
                  <a:srgbClr val="FFFFFF"/>
                </a:solidFill>
                <a:latin typeface="Arial"/>
              </a:rPr>
              <a:t>3</a:t>
            </a:r>
          </a:p>
        </p:txBody>
      </p:sp>
      <p:sp>
        <p:nvSpPr>
          <p:cNvPr id="17443" name="Rounded Rectangle 17442"/>
          <p:cNvSpPr/>
          <p:nvPr/>
        </p:nvSpPr>
        <p:spPr>
          <a:xfrm>
            <a:off x="3767328" y="2862072"/>
            <a:ext cx="4462272" cy="585216"/>
          </a:xfrm>
          <a:prstGeom prst="roundRect">
            <a:avLst>
              <a:gd name="adj" fmla="val 14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3840480" y="2880360"/>
            <a:ext cx="4334256" cy="548640"/>
          </a:xfrm>
          <a:prstGeom prst="rect">
            <a:avLst/>
          </a:prstGeom>
          <a:noFill/>
        </p:spPr>
        <p:txBody>
          <a:bodyPr wrap="square" anchor="ctr" lIns="27432" rIns="27432" tIns="27432" bIns="27432">
            <a:noAutofit/>
          </a:bodyPr>
          <a:lstStyle/>
          <a:p>
            <a:pPr algn="l">
              <a:spcAft>
                <a:spcPts val="200"/>
              </a:spcAft>
            </a:pPr>
            <a:r>
              <a:rPr sz="1100" b="1" i="0">
                <a:solidFill>
                  <a:srgbClr val="138086"/>
                </a:solidFill>
                <a:latin typeface="Arial"/>
              </a:rPr>
              <a:t>STORM INTELLIGENCE</a:t>
            </a:r>
            <a:r>
              <a:rPr sz="960" b="0" i="1">
                <a:solidFill>
                  <a:srgbClr val="1C2433"/>
                </a:solidFill>
                <a:latin typeface="Arial"/>
              </a:rPr>
              <a:t>   Find the storms and follow them</a:t>
            </a:r>
          </a:p>
          <a:p>
            <a:pPr algn="l">
              <a:spcAft>
                <a:spcPts val="200"/>
              </a:spcAft>
            </a:pPr>
            <a:r>
              <a:rPr sz="930" b="0" i="0">
                <a:solidFill>
                  <a:srgbClr val="555E6B"/>
                </a:solidFill>
                <a:latin typeface="Arial"/>
              </a:rPr>
              <a:t>Cold cells &lt; 245 K (deep convection) · area-overlap tracking · optical-flow motion</a:t>
            </a:r>
          </a:p>
        </p:txBody>
      </p:sp>
      <p:sp>
        <p:nvSpPr>
          <p:cNvPr id="17445" name="Down Arrow 17444"/>
          <p:cNvSpPr/>
          <p:nvPr/>
        </p:nvSpPr>
        <p:spPr>
          <a:xfrm>
            <a:off x="3383280" y="3456432"/>
            <a:ext cx="201168" cy="11887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6" name="Oval 17445"/>
          <p:cNvSpPr/>
          <p:nvPr/>
        </p:nvSpPr>
        <p:spPr>
          <a:xfrm>
            <a:off x="3291840" y="3685032"/>
            <a:ext cx="384048" cy="38404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300" b="1" i="0">
                <a:solidFill>
                  <a:srgbClr val="FFFFFF"/>
                </a:solidFill>
                <a:latin typeface="Arial"/>
              </a:rPr>
              <a:t>4</a:t>
            </a:r>
          </a:p>
        </p:txBody>
      </p:sp>
      <p:sp>
        <p:nvSpPr>
          <p:cNvPr id="17447" name="Rounded Rectangle 17446"/>
          <p:cNvSpPr/>
          <p:nvPr/>
        </p:nvSpPr>
        <p:spPr>
          <a:xfrm>
            <a:off x="3767328" y="3584448"/>
            <a:ext cx="4462272" cy="1170432"/>
          </a:xfrm>
          <a:prstGeom prst="roundRect">
            <a:avLst>
              <a:gd name="adj" fmla="val 14000"/>
            </a:avLst>
          </a:prstGeom>
          <a:solidFill>
            <a:srgbClr val="FFFFFF"/>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8" name="TextBox 17447"/>
          <p:cNvSpPr txBox="1"/>
          <p:nvPr/>
        </p:nvSpPr>
        <p:spPr>
          <a:xfrm>
            <a:off x="3840480" y="3602736"/>
            <a:ext cx="4334256" cy="1133856"/>
          </a:xfrm>
          <a:prstGeom prst="rect">
            <a:avLst/>
          </a:prstGeom>
          <a:noFill/>
        </p:spPr>
        <p:txBody>
          <a:bodyPr wrap="square" anchor="t" lIns="27432" rIns="27432" tIns="27432" bIns="27432">
            <a:noAutofit/>
          </a:bodyPr>
          <a:lstStyle/>
          <a:p>
            <a:pPr algn="l">
              <a:spcAft>
                <a:spcPts val="200"/>
              </a:spcAft>
            </a:pPr>
            <a:r>
              <a:rPr sz="1100" b="1" i="0">
                <a:solidFill>
                  <a:srgbClr val="1F6FB2"/>
                </a:solidFill>
                <a:latin typeface="Arial"/>
              </a:rPr>
              <a:t>FORECAST ENGINE</a:t>
            </a:r>
            <a:r>
              <a:rPr sz="960" b="0" i="1">
                <a:solidFill>
                  <a:srgbClr val="1C2433"/>
                </a:solidFill>
                <a:latin typeface="Arial"/>
              </a:rPr>
              <a:t>   Estimate what happens next, 30 min – 6 h</a:t>
            </a:r>
          </a:p>
        </p:txBody>
      </p:sp>
      <p:sp>
        <p:nvSpPr>
          <p:cNvPr id="17449" name="Down Arrow 17448"/>
          <p:cNvSpPr/>
          <p:nvPr/>
        </p:nvSpPr>
        <p:spPr>
          <a:xfrm>
            <a:off x="4468368" y="3886200"/>
            <a:ext cx="146304" cy="109728"/>
          </a:xfrm>
          <a:prstGeom prst="down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Rounded Rectangle 17449"/>
          <p:cNvSpPr/>
          <p:nvPr/>
        </p:nvSpPr>
        <p:spPr>
          <a:xfrm>
            <a:off x="3858768" y="4023360"/>
            <a:ext cx="1365504" cy="640080"/>
          </a:xfrm>
          <a:prstGeom prst="roundRect">
            <a:avLst>
              <a:gd name="adj" fmla="val 18000"/>
            </a:avLst>
          </a:prstGeom>
          <a:solidFill>
            <a:srgbClr val="E8F1F9"/>
          </a:solidFill>
          <a:ln w="127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6FB2"/>
                </a:solidFill>
                <a:latin typeface="Arial"/>
              </a:rPr>
              <a:t>Persistence</a:t>
            </a:r>
          </a:p>
          <a:p>
            <a:pPr algn="ctr">
              <a:spcAft>
                <a:spcPts val="200"/>
              </a:spcAft>
            </a:pPr>
            <a:r>
              <a:rPr sz="900" b="0" i="0">
                <a:solidFill>
                  <a:srgbClr val="1C2433"/>
                </a:solidFill>
                <a:latin typeface="Arial"/>
              </a:rPr>
              <a:t>baseline: assume no change</a:t>
            </a:r>
          </a:p>
        </p:txBody>
      </p:sp>
      <p:sp>
        <p:nvSpPr>
          <p:cNvPr id="17451" name="Down Arrow 17450"/>
          <p:cNvSpPr/>
          <p:nvPr/>
        </p:nvSpPr>
        <p:spPr>
          <a:xfrm>
            <a:off x="5925312" y="3886200"/>
            <a:ext cx="146304" cy="109728"/>
          </a:xfrm>
          <a:prstGeom prst="down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2" name="Rounded Rectangle 17451"/>
          <p:cNvSpPr/>
          <p:nvPr/>
        </p:nvSpPr>
        <p:spPr>
          <a:xfrm>
            <a:off x="5315712" y="4023360"/>
            <a:ext cx="1365504" cy="640080"/>
          </a:xfrm>
          <a:prstGeom prst="roundRect">
            <a:avLst>
              <a:gd name="adj" fmla="val 18000"/>
            </a:avLst>
          </a:prstGeom>
          <a:solidFill>
            <a:srgbClr val="E8F1F9"/>
          </a:solidFill>
          <a:ln w="127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6FB2"/>
                </a:solidFill>
                <a:latin typeface="Arial"/>
              </a:rPr>
              <a:t>pySTEPS advection</a:t>
            </a:r>
          </a:p>
          <a:p>
            <a:pPr algn="ctr">
              <a:spcAft>
                <a:spcPts val="200"/>
              </a:spcAft>
            </a:pPr>
            <a:r>
              <a:rPr sz="900" b="0" i="0">
                <a:solidFill>
                  <a:srgbClr val="1C2433"/>
                </a:solidFill>
                <a:latin typeface="Arial"/>
              </a:rPr>
              <a:t>move storms along their motion</a:t>
            </a:r>
          </a:p>
        </p:txBody>
      </p:sp>
      <p:sp>
        <p:nvSpPr>
          <p:cNvPr id="17453" name="Down Arrow 17452"/>
          <p:cNvSpPr/>
          <p:nvPr/>
        </p:nvSpPr>
        <p:spPr>
          <a:xfrm>
            <a:off x="7382255" y="3886200"/>
            <a:ext cx="146304" cy="109728"/>
          </a:xfrm>
          <a:prstGeom prst="down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4" name="Rounded Rectangle 17453"/>
          <p:cNvSpPr/>
          <p:nvPr/>
        </p:nvSpPr>
        <p:spPr>
          <a:xfrm>
            <a:off x="6772656" y="4023360"/>
            <a:ext cx="1365504" cy="640080"/>
          </a:xfrm>
          <a:prstGeom prst="roundRect">
            <a:avLst>
              <a:gd name="adj" fmla="val 18000"/>
            </a:avLst>
          </a:prstGeom>
          <a:solidFill>
            <a:srgbClr val="E8F1F9"/>
          </a:solidFill>
          <a:ln w="127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6FB2"/>
                </a:solidFill>
                <a:latin typeface="Arial"/>
              </a:rPr>
              <a:t>ML probability</a:t>
            </a:r>
          </a:p>
          <a:p>
            <a:pPr algn="ctr">
              <a:spcAft>
                <a:spcPts val="200"/>
              </a:spcAft>
            </a:pPr>
            <a:r>
              <a:rPr sz="900" b="0" i="0">
                <a:solidFill>
                  <a:srgbClr val="1C2433"/>
                </a:solidFill>
                <a:latin typeface="Arial"/>
              </a:rPr>
              <a:t>how likely is deep convection? (calibrated)</a:t>
            </a:r>
          </a:p>
        </p:txBody>
      </p:sp>
      <p:sp>
        <p:nvSpPr>
          <p:cNvPr id="17455" name="Down Arrow 17454"/>
          <p:cNvSpPr/>
          <p:nvPr/>
        </p:nvSpPr>
        <p:spPr>
          <a:xfrm>
            <a:off x="3383280" y="4764024"/>
            <a:ext cx="201168" cy="11887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6" name="Oval 17455"/>
          <p:cNvSpPr/>
          <p:nvPr/>
        </p:nvSpPr>
        <p:spPr>
          <a:xfrm>
            <a:off x="3291840" y="4992624"/>
            <a:ext cx="384048" cy="384048"/>
          </a:xfrm>
          <a:prstGeom prst="ellipse">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1300" b="1" i="0">
                <a:solidFill>
                  <a:srgbClr val="FFFFFF"/>
                </a:solidFill>
                <a:latin typeface="Arial"/>
              </a:rPr>
              <a:t>5</a:t>
            </a:r>
          </a:p>
        </p:txBody>
      </p:sp>
      <p:sp>
        <p:nvSpPr>
          <p:cNvPr id="17457" name="Rounded Rectangle 17456"/>
          <p:cNvSpPr/>
          <p:nvPr/>
        </p:nvSpPr>
        <p:spPr>
          <a:xfrm>
            <a:off x="3767328" y="4892040"/>
            <a:ext cx="4462272" cy="585216"/>
          </a:xfrm>
          <a:prstGeom prst="roundRect">
            <a:avLst>
              <a:gd name="adj" fmla="val 14000"/>
            </a:avLst>
          </a:prstGeom>
          <a:solidFill>
            <a:srgbClr val="FFFFFF"/>
          </a:solidFill>
          <a:ln w="15875">
            <a:solidFill>
              <a:srgbClr val="2F6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8" name="TextBox 17457"/>
          <p:cNvSpPr txBox="1"/>
          <p:nvPr/>
        </p:nvSpPr>
        <p:spPr>
          <a:xfrm>
            <a:off x="3840480" y="4910327"/>
            <a:ext cx="4334256" cy="548640"/>
          </a:xfrm>
          <a:prstGeom prst="rect">
            <a:avLst/>
          </a:prstGeom>
          <a:noFill/>
        </p:spPr>
        <p:txBody>
          <a:bodyPr wrap="square" anchor="ctr" lIns="27432" rIns="27432" tIns="27432" bIns="27432">
            <a:noAutofit/>
          </a:bodyPr>
          <a:lstStyle/>
          <a:p>
            <a:pPr algn="l">
              <a:spcAft>
                <a:spcPts val="200"/>
              </a:spcAft>
            </a:pPr>
            <a:r>
              <a:rPr sz="1100" b="1" i="0">
                <a:solidFill>
                  <a:srgbClr val="2F6B4F"/>
                </a:solidFill>
                <a:latin typeface="Arial"/>
              </a:rPr>
              <a:t>VALIDATION</a:t>
            </a:r>
            <a:r>
              <a:rPr sz="960" b="0" i="1">
                <a:solidFill>
                  <a:srgbClr val="1C2433"/>
                </a:solidFill>
                <a:latin typeface="Arial"/>
              </a:rPr>
              <a:t>   Did the forecast actually work?</a:t>
            </a:r>
          </a:p>
          <a:p>
            <a:pPr algn="l">
              <a:spcAft>
                <a:spcPts val="200"/>
              </a:spcAft>
            </a:pPr>
            <a:r>
              <a:rPr sz="930" b="0" i="0">
                <a:solidFill>
                  <a:srgbClr val="555E6B"/>
                </a:solidFill>
                <a:latin typeface="Arial"/>
              </a:rPr>
              <a:t>CSI · FSS · Brier skill · reliability · held-out storm days · same pixels · replay</a:t>
            </a:r>
          </a:p>
        </p:txBody>
      </p:sp>
      <p:sp>
        <p:nvSpPr>
          <p:cNvPr id="17459" name="Right Arrow 17458"/>
          <p:cNvSpPr/>
          <p:nvPr/>
        </p:nvSpPr>
        <p:spPr>
          <a:xfrm>
            <a:off x="8293608" y="3401568"/>
            <a:ext cx="274320" cy="21945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60" name="Picture 17459" descr="story_2_detect.png"/>
          <p:cNvPicPr>
            <a:picLocks noChangeAspect="1"/>
          </p:cNvPicPr>
          <p:nvPr/>
        </p:nvPicPr>
        <p:blipFill>
          <a:blip r:embed="rId4"/>
          <a:stretch>
            <a:fillRect/>
          </a:stretch>
        </p:blipFill>
        <p:spPr>
          <a:xfrm>
            <a:off x="8641080" y="1417320"/>
            <a:ext cx="566928" cy="402336"/>
          </a:xfrm>
          <a:prstGeom prst="rect">
            <a:avLst/>
          </a:prstGeom>
          <a:ln w="9525">
            <a:solidFill>
              <a:srgbClr val="138086"/>
            </a:solidFill>
          </a:ln>
        </p:spPr>
      </p:pic>
      <p:sp>
        <p:nvSpPr>
          <p:cNvPr id="17461" name="TextBox 17460"/>
          <p:cNvSpPr txBox="1"/>
          <p:nvPr/>
        </p:nvSpPr>
        <p:spPr>
          <a:xfrm>
            <a:off x="9262872" y="1408176"/>
            <a:ext cx="2624328" cy="420624"/>
          </a:xfrm>
          <a:prstGeom prst="rect">
            <a:avLst/>
          </a:prstGeom>
          <a:noFill/>
        </p:spPr>
        <p:txBody>
          <a:bodyPr wrap="square" anchor="ctr" lIns="18288" rIns="18288" tIns="18288" bIns="18288">
            <a:noAutofit/>
          </a:bodyPr>
          <a:lstStyle/>
          <a:p>
            <a:pPr algn="l">
              <a:spcAft>
                <a:spcPts val="200"/>
              </a:spcAft>
            </a:pPr>
            <a:r>
              <a:rPr sz="980" b="1" i="0">
                <a:solidFill>
                  <a:srgbClr val="138086"/>
                </a:solidFill>
                <a:latin typeface="Arial"/>
              </a:rPr>
              <a:t>STORM CELL</a:t>
            </a:r>
          </a:p>
          <a:p>
            <a:pPr algn="l">
              <a:spcAft>
                <a:spcPts val="200"/>
              </a:spcAft>
            </a:pPr>
            <a:r>
              <a:rPr sz="919" b="0" i="1">
                <a:solidFill>
                  <a:srgbClr val="1C2433"/>
                </a:solidFill>
                <a:latin typeface="Arial"/>
              </a:rPr>
              <a:t>cell #108, 14 May 2026</a:t>
            </a:r>
          </a:p>
        </p:txBody>
      </p:sp>
      <p:sp>
        <p:nvSpPr>
          <p:cNvPr id="17462" name="Down Arrow 17461"/>
          <p:cNvSpPr/>
          <p:nvPr/>
        </p:nvSpPr>
        <p:spPr>
          <a:xfrm>
            <a:off x="8860536" y="1824228"/>
            <a:ext cx="128016" cy="7315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63" name="Picture 17462" descr="story_3_track.png"/>
          <p:cNvPicPr>
            <a:picLocks noChangeAspect="1"/>
          </p:cNvPicPr>
          <p:nvPr/>
        </p:nvPicPr>
        <p:blipFill>
          <a:blip r:embed="rId5"/>
          <a:stretch>
            <a:fillRect/>
          </a:stretch>
        </p:blipFill>
        <p:spPr>
          <a:xfrm>
            <a:off x="8641080" y="1901952"/>
            <a:ext cx="566928" cy="402336"/>
          </a:xfrm>
          <a:prstGeom prst="rect">
            <a:avLst/>
          </a:prstGeom>
          <a:ln w="9525">
            <a:solidFill>
              <a:srgbClr val="138086"/>
            </a:solidFill>
          </a:ln>
        </p:spPr>
      </p:pic>
      <p:sp>
        <p:nvSpPr>
          <p:cNvPr id="17464" name="TextBox 17463"/>
          <p:cNvSpPr txBox="1"/>
          <p:nvPr/>
        </p:nvSpPr>
        <p:spPr>
          <a:xfrm>
            <a:off x="9262872" y="1892808"/>
            <a:ext cx="2624328" cy="420624"/>
          </a:xfrm>
          <a:prstGeom prst="rect">
            <a:avLst/>
          </a:prstGeom>
          <a:noFill/>
        </p:spPr>
        <p:txBody>
          <a:bodyPr wrap="square" anchor="ctr" lIns="18288" rIns="18288" tIns="18288" bIns="18288">
            <a:noAutofit/>
          </a:bodyPr>
          <a:lstStyle/>
          <a:p>
            <a:pPr algn="l">
              <a:spcAft>
                <a:spcPts val="200"/>
              </a:spcAft>
            </a:pPr>
            <a:r>
              <a:rPr sz="980" b="1" i="0">
                <a:solidFill>
                  <a:srgbClr val="138086"/>
                </a:solidFill>
                <a:latin typeface="Arial"/>
              </a:rPr>
              <a:t>TRACK + MOTION</a:t>
            </a:r>
          </a:p>
          <a:p>
            <a:pPr algn="l">
              <a:spcAft>
                <a:spcPts val="200"/>
              </a:spcAft>
            </a:pPr>
            <a:r>
              <a:rPr sz="919" b="0" i="1">
                <a:solidFill>
                  <a:srgbClr val="1C2433"/>
                </a:solidFill>
                <a:latin typeface="Arial"/>
              </a:rPr>
              <a:t>where it has been and is heading</a:t>
            </a:r>
          </a:p>
        </p:txBody>
      </p:sp>
      <p:sp>
        <p:nvSpPr>
          <p:cNvPr id="17465" name="Down Arrow 17464"/>
          <p:cNvSpPr/>
          <p:nvPr/>
        </p:nvSpPr>
        <p:spPr>
          <a:xfrm>
            <a:off x="8860536" y="2308860"/>
            <a:ext cx="128016" cy="7315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66" name="Picture 17465" descr="story_4_forecast.png"/>
          <p:cNvPicPr>
            <a:picLocks noChangeAspect="1"/>
          </p:cNvPicPr>
          <p:nvPr/>
        </p:nvPicPr>
        <p:blipFill>
          <a:blip r:embed="rId6"/>
          <a:stretch>
            <a:fillRect/>
          </a:stretch>
        </p:blipFill>
        <p:spPr>
          <a:xfrm>
            <a:off x="8641080" y="2386584"/>
            <a:ext cx="566928" cy="402336"/>
          </a:xfrm>
          <a:prstGeom prst="rect">
            <a:avLst/>
          </a:prstGeom>
          <a:ln w="9525">
            <a:solidFill>
              <a:srgbClr val="1F6FB2"/>
            </a:solidFill>
          </a:ln>
        </p:spPr>
      </p:pic>
      <p:sp>
        <p:nvSpPr>
          <p:cNvPr id="17467" name="TextBox 17466"/>
          <p:cNvSpPr txBox="1"/>
          <p:nvPr/>
        </p:nvSpPr>
        <p:spPr>
          <a:xfrm>
            <a:off x="9262872" y="2377440"/>
            <a:ext cx="2624328" cy="420624"/>
          </a:xfrm>
          <a:prstGeom prst="rect">
            <a:avLst/>
          </a:prstGeom>
          <a:noFill/>
        </p:spPr>
        <p:txBody>
          <a:bodyPr wrap="square" anchor="ctr" lIns="18288" rIns="18288" tIns="18288" bIns="18288">
            <a:noAutofit/>
          </a:bodyPr>
          <a:lstStyle/>
          <a:p>
            <a:pPr algn="l">
              <a:spcAft>
                <a:spcPts val="200"/>
              </a:spcAft>
            </a:pPr>
            <a:r>
              <a:rPr sz="980" b="1" i="0">
                <a:solidFill>
                  <a:srgbClr val="1F6FB2"/>
                </a:solidFill>
                <a:latin typeface="Arial"/>
              </a:rPr>
              <a:t>30 MIN – 6 H FORECAST</a:t>
            </a:r>
          </a:p>
          <a:p>
            <a:pPr algn="l">
              <a:spcAft>
                <a:spcPts val="200"/>
              </a:spcAft>
            </a:pPr>
            <a:r>
              <a:rPr sz="919" b="0" i="1">
                <a:solidFill>
                  <a:srgbClr val="1C2433"/>
                </a:solidFill>
                <a:latin typeface="Arial"/>
              </a:rPr>
              <a:t>where it may be next</a:t>
            </a:r>
          </a:p>
        </p:txBody>
      </p:sp>
      <p:sp>
        <p:nvSpPr>
          <p:cNvPr id="17468" name="Down Arrow 17467"/>
          <p:cNvSpPr/>
          <p:nvPr/>
        </p:nvSpPr>
        <p:spPr>
          <a:xfrm>
            <a:off x="8860536" y="2793492"/>
            <a:ext cx="128016" cy="7315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69" name="Picture 17468" descr="story_5_prob.png"/>
          <p:cNvPicPr>
            <a:picLocks noChangeAspect="1"/>
          </p:cNvPicPr>
          <p:nvPr/>
        </p:nvPicPr>
        <p:blipFill>
          <a:blip r:embed="rId7"/>
          <a:stretch>
            <a:fillRect/>
          </a:stretch>
        </p:blipFill>
        <p:spPr>
          <a:xfrm>
            <a:off x="8641080" y="2871216"/>
            <a:ext cx="566928" cy="402336"/>
          </a:xfrm>
          <a:prstGeom prst="rect">
            <a:avLst/>
          </a:prstGeom>
          <a:ln w="9525">
            <a:solidFill>
              <a:srgbClr val="1F6FB2"/>
            </a:solidFill>
          </a:ln>
        </p:spPr>
      </p:pic>
      <p:sp>
        <p:nvSpPr>
          <p:cNvPr id="17470" name="TextBox 17469"/>
          <p:cNvSpPr txBox="1"/>
          <p:nvPr/>
        </p:nvSpPr>
        <p:spPr>
          <a:xfrm>
            <a:off x="9262872" y="2862072"/>
            <a:ext cx="2624328" cy="420624"/>
          </a:xfrm>
          <a:prstGeom prst="rect">
            <a:avLst/>
          </a:prstGeom>
          <a:noFill/>
        </p:spPr>
        <p:txBody>
          <a:bodyPr wrap="square" anchor="ctr" lIns="18288" rIns="18288" tIns="18288" bIns="18288">
            <a:noAutofit/>
          </a:bodyPr>
          <a:lstStyle/>
          <a:p>
            <a:pPr algn="l">
              <a:spcAft>
                <a:spcPts val="200"/>
              </a:spcAft>
            </a:pPr>
            <a:r>
              <a:rPr sz="980" b="1" i="0">
                <a:solidFill>
                  <a:srgbClr val="1F6FB2"/>
                </a:solidFill>
                <a:latin typeface="Arial"/>
              </a:rPr>
              <a:t>CALIBRATED PROBABILITY</a:t>
            </a:r>
          </a:p>
          <a:p>
            <a:pPr algn="l">
              <a:spcAft>
                <a:spcPts val="200"/>
              </a:spcAft>
            </a:pPr>
            <a:r>
              <a:rPr sz="919" b="0" i="1">
                <a:solidFill>
                  <a:srgbClr val="1C2433"/>
                </a:solidFill>
                <a:latin typeface="Arial"/>
              </a:rPr>
              <a:t>how likely is deep convection?</a:t>
            </a:r>
          </a:p>
        </p:txBody>
      </p:sp>
      <p:sp>
        <p:nvSpPr>
          <p:cNvPr id="17471" name="Down Arrow 17470"/>
          <p:cNvSpPr/>
          <p:nvPr/>
        </p:nvSpPr>
        <p:spPr>
          <a:xfrm>
            <a:off x="8860536" y="3278124"/>
            <a:ext cx="128016" cy="7315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72" name="Picture 17471" descr="thumb_skill.png"/>
          <p:cNvPicPr>
            <a:picLocks noChangeAspect="1"/>
          </p:cNvPicPr>
          <p:nvPr/>
        </p:nvPicPr>
        <p:blipFill>
          <a:blip r:embed="rId8"/>
          <a:stretch>
            <a:fillRect/>
          </a:stretch>
        </p:blipFill>
        <p:spPr>
          <a:xfrm>
            <a:off x="8641080" y="3355848"/>
            <a:ext cx="566928" cy="402336"/>
          </a:xfrm>
          <a:prstGeom prst="rect">
            <a:avLst/>
          </a:prstGeom>
          <a:ln w="9525">
            <a:solidFill>
              <a:srgbClr val="2F6B4F"/>
            </a:solidFill>
          </a:ln>
        </p:spPr>
      </p:pic>
      <p:sp>
        <p:nvSpPr>
          <p:cNvPr id="17473" name="TextBox 17472"/>
          <p:cNvSpPr txBox="1"/>
          <p:nvPr/>
        </p:nvSpPr>
        <p:spPr>
          <a:xfrm>
            <a:off x="9262872" y="3346704"/>
            <a:ext cx="2624328" cy="420624"/>
          </a:xfrm>
          <a:prstGeom prst="rect">
            <a:avLst/>
          </a:prstGeom>
          <a:noFill/>
        </p:spPr>
        <p:txBody>
          <a:bodyPr wrap="square" anchor="ctr" lIns="18288" rIns="18288" tIns="18288" bIns="18288">
            <a:noAutofit/>
          </a:bodyPr>
          <a:lstStyle/>
          <a:p>
            <a:pPr algn="l">
              <a:spcAft>
                <a:spcPts val="200"/>
              </a:spcAft>
            </a:pPr>
            <a:r>
              <a:rPr sz="980" b="1" i="0">
                <a:solidFill>
                  <a:srgbClr val="2F6B4F"/>
                </a:solidFill>
                <a:latin typeface="Arial"/>
              </a:rPr>
              <a:t>VALIDATED SKILL</a:t>
            </a:r>
          </a:p>
          <a:p>
            <a:pPr algn="l">
              <a:spcAft>
                <a:spcPts val="200"/>
              </a:spcAft>
            </a:pPr>
            <a:r>
              <a:rPr sz="919" b="0" i="1">
                <a:solidFill>
                  <a:srgbClr val="1C2433"/>
                </a:solidFill>
                <a:latin typeface="Arial"/>
              </a:rPr>
              <a:t>how far to trust it</a:t>
            </a:r>
          </a:p>
        </p:txBody>
      </p:sp>
      <p:sp>
        <p:nvSpPr>
          <p:cNvPr id="17474" name="Down Arrow 17473"/>
          <p:cNvSpPr/>
          <p:nvPr/>
        </p:nvSpPr>
        <p:spPr>
          <a:xfrm>
            <a:off x="8860536" y="3762756"/>
            <a:ext cx="128016" cy="73152"/>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75" name="Picture 17474" descr="story_6_replay.png"/>
          <p:cNvPicPr>
            <a:picLocks noChangeAspect="1"/>
          </p:cNvPicPr>
          <p:nvPr/>
        </p:nvPicPr>
        <p:blipFill>
          <a:blip r:embed="rId9"/>
          <a:stretch>
            <a:fillRect/>
          </a:stretch>
        </p:blipFill>
        <p:spPr>
          <a:xfrm>
            <a:off x="8641080" y="3840480"/>
            <a:ext cx="566928" cy="402336"/>
          </a:xfrm>
          <a:prstGeom prst="rect">
            <a:avLst/>
          </a:prstGeom>
          <a:ln w="9525">
            <a:solidFill>
              <a:srgbClr val="B23A2E"/>
            </a:solidFill>
          </a:ln>
        </p:spPr>
      </p:pic>
      <p:sp>
        <p:nvSpPr>
          <p:cNvPr id="17476" name="TextBox 17475"/>
          <p:cNvSpPr txBox="1"/>
          <p:nvPr/>
        </p:nvSpPr>
        <p:spPr>
          <a:xfrm>
            <a:off x="9262872" y="3831336"/>
            <a:ext cx="2624328" cy="420624"/>
          </a:xfrm>
          <a:prstGeom prst="rect">
            <a:avLst/>
          </a:prstGeom>
          <a:noFill/>
        </p:spPr>
        <p:txBody>
          <a:bodyPr wrap="square" anchor="ctr" lIns="18288" rIns="18288" tIns="18288" bIns="18288">
            <a:noAutofit/>
          </a:bodyPr>
          <a:lstStyle/>
          <a:p>
            <a:pPr algn="l">
              <a:spcAft>
                <a:spcPts val="200"/>
              </a:spcAft>
            </a:pPr>
            <a:r>
              <a:rPr sz="980" b="1" i="0">
                <a:solidFill>
                  <a:srgbClr val="B23A2E"/>
                </a:solidFill>
                <a:latin typeface="Arial"/>
              </a:rPr>
              <a:t>STORMLIFE DASHBOARD</a:t>
            </a:r>
          </a:p>
          <a:p>
            <a:pPr algn="l">
              <a:spcAft>
                <a:spcPts val="200"/>
              </a:spcAft>
            </a:pPr>
            <a:r>
              <a:rPr sz="919" b="0" i="1">
                <a:solidFill>
                  <a:srgbClr val="1C2433"/>
                </a:solidFill>
                <a:latin typeface="Arial"/>
              </a:rPr>
              <a:t>9-screen replay prototype</a:t>
            </a:r>
          </a:p>
        </p:txBody>
      </p:sp>
      <p:sp>
        <p:nvSpPr>
          <p:cNvPr id="17477" name="Rounded Rectangle 17476"/>
          <p:cNvSpPr/>
          <p:nvPr/>
        </p:nvSpPr>
        <p:spPr>
          <a:xfrm>
            <a:off x="8641080" y="4361688"/>
            <a:ext cx="3246120" cy="256032"/>
          </a:xfrm>
          <a:prstGeom prst="roundRect">
            <a:avLst>
              <a:gd name="adj" fmla="val 4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00" b="1" i="0">
                <a:solidFill>
                  <a:srgbClr val="FFFFFF"/>
                </a:solidFill>
                <a:latin typeface="Arial"/>
              </a:rPr>
              <a:t>STORMLIFE RESEARCH PROTOTYPE · replay, not live</a:t>
            </a:r>
          </a:p>
        </p:txBody>
      </p:sp>
      <p:sp>
        <p:nvSpPr>
          <p:cNvPr id="17478" name="Rounded Rectangle 17477"/>
          <p:cNvSpPr/>
          <p:nvPr/>
        </p:nvSpPr>
        <p:spPr>
          <a:xfrm>
            <a:off x="8641080" y="4672584"/>
            <a:ext cx="1586484" cy="246888"/>
          </a:xfrm>
          <a:prstGeom prst="roundRect">
            <a:avLst>
              <a:gd name="adj" fmla="val 30000"/>
            </a:avLst>
          </a:prstGeom>
          <a:solidFill>
            <a:srgbClr val="FBEDEA"/>
          </a:solidFill>
          <a:ln w="952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880" b="1" i="0">
                <a:solidFill>
                  <a:srgbClr val="1C2433"/>
                </a:solidFill>
                <a:latin typeface="Arial"/>
              </a:rPr>
              <a:t>Replay situation map</a:t>
            </a:r>
          </a:p>
        </p:txBody>
      </p:sp>
      <p:sp>
        <p:nvSpPr>
          <p:cNvPr id="17479" name="Rounded Rectangle 17478"/>
          <p:cNvSpPr/>
          <p:nvPr/>
        </p:nvSpPr>
        <p:spPr>
          <a:xfrm>
            <a:off x="10300715" y="4672584"/>
            <a:ext cx="1586484" cy="246888"/>
          </a:xfrm>
          <a:prstGeom prst="roundRect">
            <a:avLst>
              <a:gd name="adj" fmla="val 30000"/>
            </a:avLst>
          </a:prstGeom>
          <a:solidFill>
            <a:srgbClr val="FBEDEA"/>
          </a:solidFill>
          <a:ln w="952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880" b="1" i="0">
                <a:solidFill>
                  <a:srgbClr val="1C2433"/>
                </a:solidFill>
                <a:latin typeface="Arial"/>
              </a:rPr>
              <a:t>0–6 h forecast</a:t>
            </a:r>
          </a:p>
        </p:txBody>
      </p:sp>
      <p:sp>
        <p:nvSpPr>
          <p:cNvPr id="17480" name="Rounded Rectangle 17479"/>
          <p:cNvSpPr/>
          <p:nvPr/>
        </p:nvSpPr>
        <p:spPr>
          <a:xfrm>
            <a:off x="8641080" y="4965192"/>
            <a:ext cx="1586484" cy="246888"/>
          </a:xfrm>
          <a:prstGeom prst="roundRect">
            <a:avLst>
              <a:gd name="adj" fmla="val 30000"/>
            </a:avLst>
          </a:prstGeom>
          <a:solidFill>
            <a:srgbClr val="FBEDEA"/>
          </a:solidFill>
          <a:ln w="952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880" b="1" i="0">
                <a:solidFill>
                  <a:srgbClr val="1C2433"/>
                </a:solidFill>
                <a:latin typeface="Arial"/>
              </a:rPr>
              <a:t>Historical replay</a:t>
            </a:r>
          </a:p>
        </p:txBody>
      </p:sp>
      <p:sp>
        <p:nvSpPr>
          <p:cNvPr id="17481" name="Rounded Rectangle 17480"/>
          <p:cNvSpPr/>
          <p:nvPr/>
        </p:nvSpPr>
        <p:spPr>
          <a:xfrm>
            <a:off x="10300715" y="4965192"/>
            <a:ext cx="1586484" cy="246888"/>
          </a:xfrm>
          <a:prstGeom prst="roundRect">
            <a:avLst>
              <a:gd name="adj" fmla="val 30000"/>
            </a:avLst>
          </a:prstGeom>
          <a:solidFill>
            <a:srgbClr val="FBEDEA"/>
          </a:solidFill>
          <a:ln w="952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880" b="1" i="0">
                <a:solidFill>
                  <a:srgbClr val="1C2433"/>
                </a:solidFill>
                <a:latin typeface="Arial"/>
              </a:rPr>
              <a:t>Model performance</a:t>
            </a:r>
          </a:p>
        </p:txBody>
      </p:sp>
      <p:sp>
        <p:nvSpPr>
          <p:cNvPr id="17482" name="Rounded Rectangle 17481"/>
          <p:cNvSpPr/>
          <p:nvPr/>
        </p:nvSpPr>
        <p:spPr>
          <a:xfrm>
            <a:off x="8641080" y="5257800"/>
            <a:ext cx="1586484" cy="246888"/>
          </a:xfrm>
          <a:prstGeom prst="roundRect">
            <a:avLst>
              <a:gd name="adj" fmla="val 30000"/>
            </a:avLst>
          </a:prstGeom>
          <a:solidFill>
            <a:srgbClr val="FBEDEA"/>
          </a:solidFill>
          <a:ln w="952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880" b="1" i="0">
                <a:solidFill>
                  <a:srgbClr val="1C2433"/>
                </a:solidFill>
                <a:latin typeface="Arial"/>
              </a:rPr>
              <a:t>Data health</a:t>
            </a:r>
          </a:p>
        </p:txBody>
      </p:sp>
      <p:sp>
        <p:nvSpPr>
          <p:cNvPr id="17483" name="Rounded Rectangle 17482"/>
          <p:cNvSpPr/>
          <p:nvPr/>
        </p:nvSpPr>
        <p:spPr>
          <a:xfrm>
            <a:off x="10300715" y="5257800"/>
            <a:ext cx="1586484" cy="246888"/>
          </a:xfrm>
          <a:prstGeom prst="roundRect">
            <a:avLst>
              <a:gd name="adj" fmla="val 30000"/>
            </a:avLst>
          </a:prstGeom>
          <a:solidFill>
            <a:srgbClr val="FBEDEA"/>
          </a:solidFill>
          <a:ln w="9525">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880" b="1" i="0">
                <a:solidFill>
                  <a:srgbClr val="1C2433"/>
                </a:solidFill>
                <a:latin typeface="Arial"/>
              </a:rPr>
              <a:t>Exercise alert (CAP)</a:t>
            </a:r>
          </a:p>
        </p:txBody>
      </p:sp>
      <p:sp>
        <p:nvSpPr>
          <p:cNvPr id="17484" name="Rounded Rectangle 17483"/>
          <p:cNvSpPr/>
          <p:nvPr/>
        </p:nvSpPr>
        <p:spPr>
          <a:xfrm>
            <a:off x="320040" y="5760720"/>
            <a:ext cx="11567160" cy="420624"/>
          </a:xfrm>
          <a:prstGeom prst="roundRect">
            <a:avLst>
              <a:gd name="adj" fmla="val 3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200" b="1" i="0">
                <a:solidFill>
                  <a:srgbClr val="FFFFFF"/>
                </a:solidFill>
                <a:latin typeface="Arial"/>
              </a:rPr>
              <a:t>Real satellite data  →  audited storm intelligence  →  forecast + calibrated probability  →  validated decision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SIH26084 - StormLife Nowcast</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a:t>THE FEVICONS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2235708" y="1005840"/>
            <a:ext cx="914400" cy="274320"/>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1000" b="1" i="0">
                <a:solidFill>
                  <a:srgbClr val="FFFFFF"/>
                </a:solidFill>
                <a:latin typeface="Arial"/>
              </a:rPr>
              <a:t>BUILT</a:t>
            </a:r>
          </a:p>
        </p:txBody>
      </p:sp>
      <p:sp>
        <p:nvSpPr>
          <p:cNvPr id="17411" name="Right Arrow 17410"/>
          <p:cNvSpPr/>
          <p:nvPr/>
        </p:nvSpPr>
        <p:spPr>
          <a:xfrm>
            <a:off x="3223260" y="1078992"/>
            <a:ext cx="164592" cy="12801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3461004" y="1005840"/>
            <a:ext cx="1234440" cy="274320"/>
          </a:xfrm>
          <a:prstGeom prst="roundRect">
            <a:avLst>
              <a:gd name="adj" fmla="val 4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1000" b="1" i="0">
                <a:solidFill>
                  <a:srgbClr val="FFFFFF"/>
                </a:solidFill>
                <a:latin typeface="Arial"/>
              </a:rPr>
              <a:t>MEASURED</a:t>
            </a:r>
          </a:p>
        </p:txBody>
      </p:sp>
      <p:sp>
        <p:nvSpPr>
          <p:cNvPr id="17413" name="Right Arrow 17412"/>
          <p:cNvSpPr/>
          <p:nvPr/>
        </p:nvSpPr>
        <p:spPr>
          <a:xfrm>
            <a:off x="4768596" y="1078992"/>
            <a:ext cx="164592" cy="12801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5006340" y="1005840"/>
            <a:ext cx="1143000" cy="274320"/>
          </a:xfrm>
          <a:prstGeom prst="roundRect">
            <a:avLst>
              <a:gd name="adj" fmla="val 40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1000" b="1" i="0">
                <a:solidFill>
                  <a:srgbClr val="FFFFFF"/>
                </a:solidFill>
                <a:latin typeface="Arial"/>
              </a:rPr>
              <a:t>VERIFIED</a:t>
            </a:r>
          </a:p>
        </p:txBody>
      </p:sp>
      <p:sp>
        <p:nvSpPr>
          <p:cNvPr id="17415" name="Right Arrow 17414"/>
          <p:cNvSpPr/>
          <p:nvPr/>
        </p:nvSpPr>
        <p:spPr>
          <a:xfrm>
            <a:off x="6222492" y="1078992"/>
            <a:ext cx="164592" cy="12801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6460236" y="1005840"/>
            <a:ext cx="1417320" cy="274320"/>
          </a:xfrm>
          <a:prstGeom prst="roundRect">
            <a:avLst>
              <a:gd name="adj" fmla="val 4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1000" b="1" i="0">
                <a:solidFill>
                  <a:srgbClr val="FFFFFF"/>
                </a:solidFill>
                <a:latin typeface="Arial"/>
              </a:rPr>
              <a:t>CLEAR LIMITS</a:t>
            </a:r>
          </a:p>
        </p:txBody>
      </p:sp>
      <p:sp>
        <p:nvSpPr>
          <p:cNvPr id="17417" name="Right Arrow 17416"/>
          <p:cNvSpPr/>
          <p:nvPr/>
        </p:nvSpPr>
        <p:spPr>
          <a:xfrm>
            <a:off x="7950708" y="1078992"/>
            <a:ext cx="164592" cy="12801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8188452" y="1005840"/>
            <a:ext cx="1783080" cy="274320"/>
          </a:xfrm>
          <a:prstGeom prst="roundRect">
            <a:avLst>
              <a:gd name="adj" fmla="val 40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1000" b="1" i="0">
                <a:solidFill>
                  <a:srgbClr val="FFFFFF"/>
                </a:solidFill>
                <a:latin typeface="Arial"/>
              </a:rPr>
              <a:t>NEXT VALIDATION</a:t>
            </a:r>
          </a:p>
        </p:txBody>
      </p:sp>
      <p:sp>
        <p:nvSpPr>
          <p:cNvPr id="17419" name="TextBox 17418"/>
          <p:cNvSpPr txBox="1"/>
          <p:nvPr/>
        </p:nvSpPr>
        <p:spPr>
          <a:xfrm>
            <a:off x="320040" y="1371600"/>
            <a:ext cx="115214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ANALYSIS OF THE FEASIBILITY OF THE IDEA: EVIDENCE AT A GLANCE</a:t>
            </a:r>
          </a:p>
        </p:txBody>
      </p:sp>
      <p:sp>
        <p:nvSpPr>
          <p:cNvPr id="17420" name="Rounded Rectangle 17419"/>
          <p:cNvSpPr/>
          <p:nvPr/>
        </p:nvSpPr>
        <p:spPr>
          <a:xfrm>
            <a:off x="320040" y="1627632"/>
            <a:ext cx="2203704" cy="493776"/>
          </a:xfrm>
          <a:prstGeom prst="roundRect">
            <a:avLst>
              <a:gd name="adj" fmla="val 20000"/>
            </a:avLst>
          </a:prstGeom>
          <a:solidFill>
            <a:srgbClr val="E6F3F3"/>
          </a:solidFill>
          <a:ln w="9525">
            <a:solidFill>
              <a:srgbClr val="B9DC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250" b="1" i="0">
                <a:solidFill>
                  <a:srgbClr val="138086"/>
                </a:solidFill>
                <a:latin typeface="Arial"/>
              </a:rPr>
              <a:t>25 days</a:t>
            </a:r>
          </a:p>
          <a:p>
            <a:pPr algn="ctr">
              <a:spcAft>
                <a:spcPts val="200"/>
              </a:spcAft>
            </a:pPr>
            <a:r>
              <a:rPr sz="880" b="0" i="0">
                <a:solidFill>
                  <a:srgbClr val="1C2433"/>
                </a:solidFill>
                <a:latin typeface="Arial"/>
              </a:rPr>
              <a:t>600 real satellite files</a:t>
            </a:r>
          </a:p>
        </p:txBody>
      </p:sp>
      <p:sp>
        <p:nvSpPr>
          <p:cNvPr id="17421" name="Rounded Rectangle 17420"/>
          <p:cNvSpPr/>
          <p:nvPr/>
        </p:nvSpPr>
        <p:spPr>
          <a:xfrm>
            <a:off x="2660904" y="1627632"/>
            <a:ext cx="2203704" cy="493776"/>
          </a:xfrm>
          <a:prstGeom prst="roundRect">
            <a:avLst>
              <a:gd name="adj" fmla="val 20000"/>
            </a:avLst>
          </a:prstGeom>
          <a:solidFill>
            <a:srgbClr val="E6F3F3"/>
          </a:solidFill>
          <a:ln w="9525">
            <a:solidFill>
              <a:srgbClr val="B9DC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250" b="1" i="0">
                <a:solidFill>
                  <a:srgbClr val="138086"/>
                </a:solidFill>
                <a:latin typeface="Arial"/>
              </a:rPr>
              <a:t>3 storm days</a:t>
            </a:r>
          </a:p>
          <a:p>
            <a:pPr algn="ctr">
              <a:spcAft>
                <a:spcPts val="200"/>
              </a:spcAft>
            </a:pPr>
            <a:r>
              <a:rPr sz="880" b="0" i="0">
                <a:solidFill>
                  <a:srgbClr val="1C2433"/>
                </a:solidFill>
                <a:latin typeface="Arial"/>
              </a:rPr>
              <a:t>held out: E8 · E10 · E11</a:t>
            </a:r>
          </a:p>
        </p:txBody>
      </p:sp>
      <p:sp>
        <p:nvSpPr>
          <p:cNvPr id="17422" name="Rounded Rectangle 17421"/>
          <p:cNvSpPr/>
          <p:nvPr/>
        </p:nvSpPr>
        <p:spPr>
          <a:xfrm>
            <a:off x="5001768" y="1627632"/>
            <a:ext cx="2203704" cy="493776"/>
          </a:xfrm>
          <a:prstGeom prst="roundRect">
            <a:avLst>
              <a:gd name="adj" fmla="val 20000"/>
            </a:avLst>
          </a:prstGeom>
          <a:solidFill>
            <a:srgbClr val="E6F3F3"/>
          </a:solidFill>
          <a:ln w="9525">
            <a:solidFill>
              <a:srgbClr val="B9DC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250" b="1" i="0">
                <a:solidFill>
                  <a:srgbClr val="138086"/>
                </a:solidFill>
                <a:latin typeface="Arial"/>
              </a:rPr>
              <a:t>9 screens</a:t>
            </a:r>
          </a:p>
          <a:p>
            <a:pPr algn="ctr">
              <a:spcAft>
                <a:spcPts val="200"/>
              </a:spcAft>
            </a:pPr>
            <a:r>
              <a:rPr sz="880" b="0" i="0">
                <a:solidFill>
                  <a:srgbClr val="1C2433"/>
                </a:solidFill>
                <a:latin typeface="Arial"/>
              </a:rPr>
              <a:t>working replay prototype</a:t>
            </a:r>
          </a:p>
        </p:txBody>
      </p:sp>
      <p:sp>
        <p:nvSpPr>
          <p:cNvPr id="17423" name="Rounded Rectangle 17422"/>
          <p:cNvSpPr/>
          <p:nvPr/>
        </p:nvSpPr>
        <p:spPr>
          <a:xfrm>
            <a:off x="7342631" y="1627632"/>
            <a:ext cx="2203704" cy="493776"/>
          </a:xfrm>
          <a:prstGeom prst="roundRect">
            <a:avLst>
              <a:gd name="adj" fmla="val 20000"/>
            </a:avLst>
          </a:prstGeom>
          <a:solidFill>
            <a:srgbClr val="E6F3F3"/>
          </a:solidFill>
          <a:ln w="9525">
            <a:solidFill>
              <a:srgbClr val="B9DC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250" b="1" i="0">
                <a:solidFill>
                  <a:srgbClr val="138086"/>
                </a:solidFill>
                <a:latin typeface="Arial"/>
              </a:rPr>
              <a:t>84 tests pass</a:t>
            </a:r>
          </a:p>
          <a:p>
            <a:pPr algn="ctr">
              <a:spcAft>
                <a:spcPts val="200"/>
              </a:spcAft>
            </a:pPr>
            <a:r>
              <a:rPr sz="880" b="0" i="0">
                <a:solidFill>
                  <a:srgbClr val="1C2433"/>
                </a:solidFill>
                <a:latin typeface="Arial"/>
              </a:rPr>
              <a:t>incl. 2 browser tests</a:t>
            </a:r>
          </a:p>
        </p:txBody>
      </p:sp>
      <p:sp>
        <p:nvSpPr>
          <p:cNvPr id="17424" name="Rounded Rectangle 17423"/>
          <p:cNvSpPr/>
          <p:nvPr/>
        </p:nvSpPr>
        <p:spPr>
          <a:xfrm>
            <a:off x="9683496" y="1627632"/>
            <a:ext cx="2203704" cy="493776"/>
          </a:xfrm>
          <a:prstGeom prst="roundRect">
            <a:avLst>
              <a:gd name="adj" fmla="val 20000"/>
            </a:avLst>
          </a:prstGeom>
          <a:solidFill>
            <a:srgbClr val="E6F3F3"/>
          </a:solidFill>
          <a:ln w="9525">
            <a:solidFill>
              <a:srgbClr val="B9DCD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250" b="1" i="0">
                <a:solidFill>
                  <a:srgbClr val="138086"/>
                </a:solidFill>
                <a:latin typeface="Arial"/>
              </a:rPr>
              <a:t>386 files</a:t>
            </a:r>
          </a:p>
          <a:p>
            <a:pPr algn="ctr">
              <a:spcAft>
                <a:spcPts val="200"/>
              </a:spcAft>
            </a:pPr>
            <a:r>
              <a:rPr sz="880" b="0" i="0">
                <a:solidFill>
                  <a:srgbClr val="1C2433"/>
                </a:solidFill>
                <a:latin typeface="Arial"/>
              </a:rPr>
              <a:t>evidence hash-frozen</a:t>
            </a:r>
          </a:p>
        </p:txBody>
      </p:sp>
      <p:sp>
        <p:nvSpPr>
          <p:cNvPr id="17425" name="TextBox 17424"/>
          <p:cNvSpPr txBox="1"/>
          <p:nvPr/>
        </p:nvSpPr>
        <p:spPr>
          <a:xfrm>
            <a:off x="320040" y="2231136"/>
            <a:ext cx="115214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WHAT THE TESTING SHOWED: 3 HELD-OUT STORM DAYS, POOLED, SAME PIXELS</a:t>
            </a:r>
          </a:p>
        </p:txBody>
      </p:sp>
      <p:pic>
        <p:nvPicPr>
          <p:cNvPr id="17426" name="Picture 17425" descr="bss_by_lead.png"/>
          <p:cNvPicPr>
            <a:picLocks noChangeAspect="1"/>
          </p:cNvPicPr>
          <p:nvPr/>
        </p:nvPicPr>
        <p:blipFill>
          <a:blip r:embed="rId4"/>
          <a:stretch>
            <a:fillRect/>
          </a:stretch>
        </p:blipFill>
        <p:spPr>
          <a:xfrm>
            <a:off x="320040" y="2487168"/>
            <a:ext cx="4343400" cy="2311809"/>
          </a:xfrm>
          <a:prstGeom prst="rect">
            <a:avLst/>
          </a:prstGeom>
          <a:ln w="9525">
            <a:solidFill>
              <a:srgbClr val="C9CED8"/>
            </a:solidFill>
          </a:ln>
        </p:spPr>
      </p:pic>
      <p:sp>
        <p:nvSpPr>
          <p:cNvPr id="17427" name="Rounded Rectangle 17426"/>
          <p:cNvSpPr/>
          <p:nvPr/>
        </p:nvSpPr>
        <p:spPr>
          <a:xfrm>
            <a:off x="4846320" y="2487168"/>
            <a:ext cx="3451860" cy="1087324"/>
          </a:xfrm>
          <a:prstGeom prst="roundRect">
            <a:avLst>
              <a:gd name="adj" fmla="val 8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4937759" y="2596896"/>
            <a:ext cx="932688" cy="867868"/>
          </a:xfrm>
          <a:prstGeom prst="roundRect">
            <a:avLst>
              <a:gd name="adj" fmla="val 14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2000" b="1" i="0">
                <a:solidFill>
                  <a:srgbClr val="FFFFFF"/>
                </a:solidFill>
                <a:latin typeface="Arial"/>
              </a:rPr>
              <a:t>3 / 3</a:t>
            </a:r>
          </a:p>
        </p:txBody>
      </p:sp>
      <p:sp>
        <p:nvSpPr>
          <p:cNvPr id="17429" name="TextBox 17428"/>
          <p:cNvSpPr txBox="1"/>
          <p:nvPr/>
        </p:nvSpPr>
        <p:spPr>
          <a:xfrm>
            <a:off x="5961888" y="2560320"/>
            <a:ext cx="2263139" cy="941020"/>
          </a:xfrm>
          <a:prstGeom prst="rect">
            <a:avLst/>
          </a:prstGeom>
          <a:noFill/>
        </p:spPr>
        <p:txBody>
          <a:bodyPr wrap="square" anchor="ctr" lIns="18288" rIns="18288" tIns="18288" bIns="18288">
            <a:noAutofit/>
          </a:bodyPr>
          <a:lstStyle/>
          <a:p>
            <a:pPr algn="l">
              <a:spcAft>
                <a:spcPts val="200"/>
              </a:spcAft>
            </a:pPr>
            <a:r>
              <a:rPr sz="1100" b="1" i="0">
                <a:solidFill>
                  <a:srgbClr val="1C2433"/>
                </a:solidFill>
                <a:latin typeface="Arial"/>
              </a:rPr>
              <a:t>pySTEPS beats persistence</a:t>
            </a:r>
          </a:p>
          <a:p>
            <a:pPr algn="l">
              <a:spcAft>
                <a:spcPts val="200"/>
              </a:spcAft>
            </a:pPr>
            <a:r>
              <a:rPr sz="950" b="0" i="0">
                <a:solidFill>
                  <a:srgbClr val="555E6B"/>
                </a:solidFill>
                <a:latin typeface="Arial"/>
              </a:rPr>
              <a:t>at every tested lead, 30 min – 6 h</a:t>
            </a:r>
          </a:p>
        </p:txBody>
      </p:sp>
      <p:sp>
        <p:nvSpPr>
          <p:cNvPr id="17430" name="Rounded Rectangle 17429"/>
          <p:cNvSpPr/>
          <p:nvPr/>
        </p:nvSpPr>
        <p:spPr>
          <a:xfrm>
            <a:off x="8435340" y="2487168"/>
            <a:ext cx="3451860" cy="1087324"/>
          </a:xfrm>
          <a:prstGeom prst="roundRect">
            <a:avLst>
              <a:gd name="adj" fmla="val 8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Rounded Rectangle 17430"/>
          <p:cNvSpPr/>
          <p:nvPr/>
        </p:nvSpPr>
        <p:spPr>
          <a:xfrm>
            <a:off x="8526780" y="2596896"/>
            <a:ext cx="932688" cy="867868"/>
          </a:xfrm>
          <a:prstGeom prst="roundRect">
            <a:avLst>
              <a:gd name="adj" fmla="val 14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2000" b="1" i="0">
                <a:solidFill>
                  <a:srgbClr val="FFFFFF"/>
                </a:solidFill>
                <a:latin typeface="Arial"/>
              </a:rPr>
              <a:t>≈ 2 h</a:t>
            </a:r>
          </a:p>
        </p:txBody>
      </p:sp>
      <p:sp>
        <p:nvSpPr>
          <p:cNvPr id="17432" name="TextBox 17431"/>
          <p:cNvSpPr txBox="1"/>
          <p:nvPr/>
        </p:nvSpPr>
        <p:spPr>
          <a:xfrm>
            <a:off x="9550908" y="2560320"/>
            <a:ext cx="2263139" cy="941020"/>
          </a:xfrm>
          <a:prstGeom prst="rect">
            <a:avLst/>
          </a:prstGeom>
          <a:noFill/>
        </p:spPr>
        <p:txBody>
          <a:bodyPr wrap="square" anchor="ctr" lIns="18288" rIns="18288" tIns="18288" bIns="18288">
            <a:noAutofit/>
          </a:bodyPr>
          <a:lstStyle/>
          <a:p>
            <a:pPr algn="l">
              <a:spcAft>
                <a:spcPts val="200"/>
              </a:spcAft>
            </a:pPr>
            <a:r>
              <a:rPr sz="1100" b="1" i="0">
                <a:solidFill>
                  <a:srgbClr val="1C2433"/>
                </a:solidFill>
                <a:latin typeface="Arial"/>
              </a:rPr>
              <a:t>Useful baseline skill</a:t>
            </a:r>
          </a:p>
          <a:p>
            <a:pPr algn="l">
              <a:spcAft>
                <a:spcPts val="200"/>
              </a:spcAft>
            </a:pPr>
            <a:r>
              <a:rPr sz="950" b="0" i="0">
                <a:solidFill>
                  <a:srgbClr val="555E6B"/>
                </a:solidFill>
                <a:latin typeface="Arial"/>
              </a:rPr>
              <a:t>FSS 40 km useful to ~90 min (persistence) / ~120 min (pySTEPS)</a:t>
            </a:r>
          </a:p>
        </p:txBody>
      </p:sp>
      <p:sp>
        <p:nvSpPr>
          <p:cNvPr id="17433" name="Rounded Rectangle 17432"/>
          <p:cNvSpPr/>
          <p:nvPr/>
        </p:nvSpPr>
        <p:spPr>
          <a:xfrm>
            <a:off x="4846320" y="3711652"/>
            <a:ext cx="3451860" cy="1087324"/>
          </a:xfrm>
          <a:prstGeom prst="roundRect">
            <a:avLst>
              <a:gd name="adj" fmla="val 8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Rounded Rectangle 17433"/>
          <p:cNvSpPr/>
          <p:nvPr/>
        </p:nvSpPr>
        <p:spPr>
          <a:xfrm>
            <a:off x="4937759" y="3821380"/>
            <a:ext cx="932688" cy="867868"/>
          </a:xfrm>
          <a:prstGeom prst="roundRect">
            <a:avLst>
              <a:gd name="adj" fmla="val 14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2000" b="1" i="0">
                <a:solidFill>
                  <a:srgbClr val="FFFFFF"/>
                </a:solidFill>
                <a:latin typeface="Arial"/>
              </a:rPr>
              <a:t>≈ 4 h</a:t>
            </a:r>
          </a:p>
        </p:txBody>
      </p:sp>
      <p:sp>
        <p:nvSpPr>
          <p:cNvPr id="17435" name="TextBox 17434"/>
          <p:cNvSpPr txBox="1"/>
          <p:nvPr/>
        </p:nvSpPr>
        <p:spPr>
          <a:xfrm>
            <a:off x="5961888" y="3784804"/>
            <a:ext cx="2263139" cy="941020"/>
          </a:xfrm>
          <a:prstGeom prst="rect">
            <a:avLst/>
          </a:prstGeom>
          <a:noFill/>
        </p:spPr>
        <p:txBody>
          <a:bodyPr wrap="square" anchor="ctr" lIns="18288" rIns="18288" tIns="18288" bIns="18288">
            <a:noAutofit/>
          </a:bodyPr>
          <a:lstStyle/>
          <a:p>
            <a:pPr algn="l">
              <a:spcAft>
                <a:spcPts val="200"/>
              </a:spcAft>
            </a:pPr>
            <a:r>
              <a:rPr sz="1100" b="1" i="0">
                <a:solidFill>
                  <a:srgbClr val="1C2433"/>
                </a:solidFill>
                <a:latin typeface="Arial"/>
              </a:rPr>
              <a:t>ML probability skill</a:t>
            </a:r>
          </a:p>
          <a:p>
            <a:pPr algn="l">
              <a:spcAft>
                <a:spcPts val="200"/>
              </a:spcAft>
            </a:pPr>
            <a:r>
              <a:rPr sz="950" b="0" i="0">
                <a:solidFill>
                  <a:srgbClr val="555E6B"/>
                </a:solidFill>
                <a:latin typeface="Arial"/>
              </a:rPr>
              <a:t>BSS 0.27 at 2 h (no-fit ref. 0.02) · calibration error 0.002–0.004</a:t>
            </a:r>
          </a:p>
        </p:txBody>
      </p:sp>
      <p:sp>
        <p:nvSpPr>
          <p:cNvPr id="17436" name="Rounded Rectangle 17435"/>
          <p:cNvSpPr/>
          <p:nvPr/>
        </p:nvSpPr>
        <p:spPr>
          <a:xfrm>
            <a:off x="8435340" y="3711652"/>
            <a:ext cx="3451860" cy="1087324"/>
          </a:xfrm>
          <a:prstGeom prst="roundRect">
            <a:avLst>
              <a:gd name="adj" fmla="val 8000"/>
            </a:avLst>
          </a:prstGeom>
          <a:solidFill>
            <a:srgbClr val="FBEDEA"/>
          </a:solidFill>
          <a:ln w="2540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Rounded Rectangle 17436"/>
          <p:cNvSpPr/>
          <p:nvPr/>
        </p:nvSpPr>
        <p:spPr>
          <a:xfrm>
            <a:off x="8526780" y="3821380"/>
            <a:ext cx="932688" cy="867868"/>
          </a:xfrm>
          <a:prstGeom prst="roundRect">
            <a:avLst>
              <a:gd name="adj" fmla="val 14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2000" b="1" i="0">
                <a:solidFill>
                  <a:srgbClr val="FFFFFF"/>
                </a:solidFill>
                <a:latin typeface="Arial"/>
              </a:rPr>
              <a:t>1 h</a:t>
            </a:r>
          </a:p>
          <a:p>
            <a:pPr algn="ctr">
              <a:spcAft>
                <a:spcPts val="200"/>
              </a:spcAft>
            </a:pPr>
            <a:r>
              <a:rPr sz="900" b="1" i="0">
                <a:solidFill>
                  <a:srgbClr val="FFFFFF"/>
                </a:solidFill>
                <a:latin typeface="Arial"/>
              </a:rPr>
              <a:t>LIMIT</a:t>
            </a:r>
          </a:p>
        </p:txBody>
      </p:sp>
      <p:sp>
        <p:nvSpPr>
          <p:cNvPr id="17438" name="TextBox 17437"/>
          <p:cNvSpPr txBox="1"/>
          <p:nvPr/>
        </p:nvSpPr>
        <p:spPr>
          <a:xfrm>
            <a:off x="9550908" y="3784804"/>
            <a:ext cx="2263139" cy="941020"/>
          </a:xfrm>
          <a:prstGeom prst="rect">
            <a:avLst/>
          </a:prstGeom>
          <a:noFill/>
        </p:spPr>
        <p:txBody>
          <a:bodyPr wrap="square" anchor="ctr" lIns="18288" rIns="18288" tIns="18288" bIns="18288">
            <a:noAutofit/>
          </a:bodyPr>
          <a:lstStyle/>
          <a:p>
            <a:pPr algn="l">
              <a:spcAft>
                <a:spcPts val="200"/>
              </a:spcAft>
            </a:pPr>
            <a:r>
              <a:rPr sz="1100" b="1" i="0">
                <a:solidFill>
                  <a:srgbClr val="B23A2E"/>
                </a:solidFill>
                <a:latin typeface="Arial"/>
              </a:rPr>
              <a:t>LIMIT: no yes/no gain</a:t>
            </a:r>
          </a:p>
          <a:p>
            <a:pPr algn="l">
              <a:spcAft>
                <a:spcPts val="200"/>
              </a:spcAft>
            </a:pPr>
            <a:r>
              <a:rPr sz="950" b="0" i="0">
                <a:solidFill>
                  <a:srgbClr val="1C2433"/>
                </a:solidFill>
                <a:latin typeface="Arial"/>
              </a:rPr>
              <a:t>ML does not improve binary yes/no maps over pySTEPS beyond 1 h</a:t>
            </a:r>
          </a:p>
        </p:txBody>
      </p:sp>
      <p:sp>
        <p:nvSpPr>
          <p:cNvPr id="17439" name="TextBox 17438"/>
          <p:cNvSpPr txBox="1"/>
          <p:nvPr/>
        </p:nvSpPr>
        <p:spPr>
          <a:xfrm>
            <a:off x="320040" y="4926993"/>
            <a:ext cx="115214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POTENTIAL CHALLENGES AND RISKS → STRATEGIES FOR OVERCOMING THESE CHALLENGES: VIABILITY ROADMAP</a:t>
            </a:r>
          </a:p>
        </p:txBody>
      </p:sp>
      <p:sp>
        <p:nvSpPr>
          <p:cNvPr id="17440" name="Rounded Rectangle 17439"/>
          <p:cNvSpPr/>
          <p:nvPr/>
        </p:nvSpPr>
        <p:spPr>
          <a:xfrm>
            <a:off x="320040" y="5183025"/>
            <a:ext cx="3624072" cy="768096"/>
          </a:xfrm>
          <a:prstGeom prst="roundRect">
            <a:avLst>
              <a:gd name="adj" fmla="val 10000"/>
            </a:avLst>
          </a:prstGeom>
          <a:solidFill>
            <a:srgbClr val="E6F3F3"/>
          </a:solidFill>
          <a:ln w="1587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1" name="Rounded Rectangle 17440"/>
          <p:cNvSpPr/>
          <p:nvPr/>
        </p:nvSpPr>
        <p:spPr>
          <a:xfrm>
            <a:off x="320040" y="5183025"/>
            <a:ext cx="3624072" cy="246888"/>
          </a:xfrm>
          <a:prstGeom prst="roundRect">
            <a:avLst>
              <a:gd name="adj" fmla="val 3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950" b="1" i="0">
                <a:solidFill>
                  <a:srgbClr val="FFFFFF"/>
                </a:solidFill>
                <a:latin typeface="Arial"/>
              </a:rPr>
              <a:t>BUILT NOW</a:t>
            </a:r>
          </a:p>
        </p:txBody>
      </p:sp>
      <p:sp>
        <p:nvSpPr>
          <p:cNvPr id="17442" name="TextBox 17441"/>
          <p:cNvSpPr txBox="1"/>
          <p:nvPr/>
        </p:nvSpPr>
        <p:spPr>
          <a:xfrm>
            <a:off x="411479" y="5448201"/>
            <a:ext cx="3441192" cy="484632"/>
          </a:xfrm>
          <a:prstGeom prst="rect">
            <a:avLst/>
          </a:prstGeom>
          <a:noFill/>
        </p:spPr>
        <p:txBody>
          <a:bodyPr wrap="square" anchor="ctr" lIns="9144" rIns="9144" tIns="9144" bIns="9144">
            <a:noAutofit/>
          </a:bodyPr>
          <a:lstStyle/>
          <a:p>
            <a:pPr algn="ctr">
              <a:spcAft>
                <a:spcPts val="200"/>
              </a:spcAft>
            </a:pPr>
            <a:r>
              <a:rPr sz="950" b="1" i="0">
                <a:solidFill>
                  <a:srgbClr val="1C2433"/>
                </a:solidFill>
                <a:latin typeface="Arial"/>
              </a:rPr>
              <a:t>Research prototype · real satellite data</a:t>
            </a:r>
          </a:p>
          <a:p>
            <a:pPr algn="ctr">
              <a:spcAft>
                <a:spcPts val="200"/>
              </a:spcAft>
            </a:pPr>
            <a:r>
              <a:rPr sz="950" b="1" i="0">
                <a:solidFill>
                  <a:srgbClr val="1C2433"/>
                </a:solidFill>
                <a:latin typeface="Arial"/>
              </a:rPr>
              <a:t>3 held-out storm days · IR-only replay</a:t>
            </a:r>
          </a:p>
        </p:txBody>
      </p:sp>
      <p:sp>
        <p:nvSpPr>
          <p:cNvPr id="17443" name="Right Arrow 17442"/>
          <p:cNvSpPr/>
          <p:nvPr/>
        </p:nvSpPr>
        <p:spPr>
          <a:xfrm>
            <a:off x="4008120" y="5457345"/>
            <a:ext cx="219456" cy="21945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Rounded Rectangle 17443"/>
          <p:cNvSpPr/>
          <p:nvPr/>
        </p:nvSpPr>
        <p:spPr>
          <a:xfrm>
            <a:off x="4291584" y="5183025"/>
            <a:ext cx="3624072" cy="768096"/>
          </a:xfrm>
          <a:prstGeom prst="roundRect">
            <a:avLst>
              <a:gd name="adj" fmla="val 10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5" name="Rounded Rectangle 17444"/>
          <p:cNvSpPr/>
          <p:nvPr/>
        </p:nvSpPr>
        <p:spPr>
          <a:xfrm>
            <a:off x="4291584" y="5183025"/>
            <a:ext cx="3624072" cy="246888"/>
          </a:xfrm>
          <a:prstGeom prst="roundRect">
            <a:avLst>
              <a:gd name="adj" fmla="val 35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950" b="1" i="0">
                <a:solidFill>
                  <a:srgbClr val="FFFFFF"/>
                </a:solidFill>
                <a:latin typeface="Arial"/>
              </a:rPr>
              <a:t>NEXT  (not built)</a:t>
            </a:r>
          </a:p>
        </p:txBody>
      </p:sp>
      <p:sp>
        <p:nvSpPr>
          <p:cNvPr id="17446" name="TextBox 17445"/>
          <p:cNvSpPr txBox="1"/>
          <p:nvPr/>
        </p:nvSpPr>
        <p:spPr>
          <a:xfrm>
            <a:off x="4383024" y="5448201"/>
            <a:ext cx="3441192" cy="484632"/>
          </a:xfrm>
          <a:prstGeom prst="rect">
            <a:avLst/>
          </a:prstGeom>
          <a:noFill/>
        </p:spPr>
        <p:txBody>
          <a:bodyPr wrap="square" anchor="ctr" lIns="9144" rIns="9144" tIns="9144" bIns="9144">
            <a:noAutofit/>
          </a:bodyPr>
          <a:lstStyle/>
          <a:p>
            <a:pPr algn="ctr">
              <a:spcAft>
                <a:spcPts val="200"/>
              </a:spcAft>
            </a:pPr>
            <a:r>
              <a:rPr sz="950" b="0" i="0">
                <a:solidFill>
                  <a:srgbClr val="1C2433"/>
                </a:solidFill>
                <a:latin typeface="Arial"/>
              </a:rPr>
              <a:t>More seasons + regions</a:t>
            </a:r>
          </a:p>
          <a:p>
            <a:pPr algn="ctr">
              <a:spcAft>
                <a:spcPts val="200"/>
              </a:spcAft>
            </a:pPr>
            <a:r>
              <a:rPr sz="950" b="0" i="0">
                <a:solidFill>
                  <a:srgbClr val="1C2433"/>
                </a:solidFill>
                <a:latin typeface="Arial"/>
              </a:rPr>
              <a:t>Forward-time validation</a:t>
            </a:r>
          </a:p>
          <a:p>
            <a:pPr algn="ctr">
              <a:spcAft>
                <a:spcPts val="200"/>
              </a:spcAft>
            </a:pPr>
            <a:r>
              <a:rPr sz="950" b="0" i="0">
                <a:solidFill>
                  <a:srgbClr val="1C2433"/>
                </a:solidFill>
                <a:latin typeface="Arial"/>
              </a:rPr>
              <a:t>Independent radar / lightning verification</a:t>
            </a:r>
          </a:p>
        </p:txBody>
      </p:sp>
      <p:sp>
        <p:nvSpPr>
          <p:cNvPr id="17447" name="Right Arrow 17446"/>
          <p:cNvSpPr/>
          <p:nvPr/>
        </p:nvSpPr>
        <p:spPr>
          <a:xfrm>
            <a:off x="7979664" y="5457345"/>
            <a:ext cx="219456" cy="219456"/>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8" name="Rounded Rectangle 17447"/>
          <p:cNvSpPr/>
          <p:nvPr/>
        </p:nvSpPr>
        <p:spPr>
          <a:xfrm>
            <a:off x="8263128" y="5183025"/>
            <a:ext cx="3624072" cy="768096"/>
          </a:xfrm>
          <a:prstGeom prst="roundRect">
            <a:avLst>
              <a:gd name="adj" fmla="val 10000"/>
            </a:avLst>
          </a:prstGeom>
          <a:solidFill>
            <a:srgbClr val="FFFFFF"/>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9" name="Rounded Rectangle 17448"/>
          <p:cNvSpPr/>
          <p:nvPr/>
        </p:nvSpPr>
        <p:spPr>
          <a:xfrm>
            <a:off x="8263128" y="5183025"/>
            <a:ext cx="3624072" cy="246888"/>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noAutofit/>
          </a:bodyPr>
          <a:lstStyle/>
          <a:p>
            <a:pPr algn="ctr">
              <a:spcAft>
                <a:spcPts val="200"/>
              </a:spcAft>
            </a:pPr>
            <a:r>
              <a:rPr sz="950" b="1" i="0">
                <a:solidFill>
                  <a:srgbClr val="FFFFFF"/>
                </a:solidFill>
                <a:latin typeface="Arial"/>
              </a:rPr>
              <a:t>FUTURE  (not built)</a:t>
            </a:r>
          </a:p>
        </p:txBody>
      </p:sp>
      <p:sp>
        <p:nvSpPr>
          <p:cNvPr id="17450" name="TextBox 17449"/>
          <p:cNvSpPr txBox="1"/>
          <p:nvPr/>
        </p:nvSpPr>
        <p:spPr>
          <a:xfrm>
            <a:off x="8354568" y="5448201"/>
            <a:ext cx="3441192" cy="484632"/>
          </a:xfrm>
          <a:prstGeom prst="rect">
            <a:avLst/>
          </a:prstGeom>
          <a:noFill/>
        </p:spPr>
        <p:txBody>
          <a:bodyPr wrap="square" anchor="ctr" lIns="9144" rIns="9144" tIns="9144" bIns="9144">
            <a:noAutofit/>
          </a:bodyPr>
          <a:lstStyle/>
          <a:p>
            <a:pPr algn="ctr">
              <a:spcAft>
                <a:spcPts val="200"/>
              </a:spcAft>
            </a:pPr>
            <a:r>
              <a:rPr sz="950" b="0" i="0">
                <a:solidFill>
                  <a:srgbClr val="1C2433"/>
                </a:solidFill>
                <a:latin typeface="Arial"/>
              </a:rPr>
              <a:t>INSAT-3DS / Meteosat, 15-min+</a:t>
            </a:r>
          </a:p>
          <a:p>
            <a:pPr algn="ctr">
              <a:spcAft>
                <a:spcPts val="200"/>
              </a:spcAft>
            </a:pPr>
            <a:r>
              <a:rPr sz="950" b="0" i="0">
                <a:solidFill>
                  <a:srgbClr val="1C2433"/>
                </a:solidFill>
                <a:latin typeface="Arial"/>
              </a:rPr>
              <a:t>Radar / lightning truth</a:t>
            </a:r>
          </a:p>
          <a:p>
            <a:pPr algn="ctr">
              <a:spcAft>
                <a:spcPts val="200"/>
              </a:spcAft>
            </a:pPr>
            <a:r>
              <a:rPr sz="950" b="0" i="0">
                <a:solidFill>
                  <a:srgbClr val="1C2433"/>
                </a:solidFill>
                <a:latin typeface="Arial"/>
              </a:rPr>
              <a:t>Live pipeline + initiation score</a:t>
            </a:r>
          </a:p>
        </p:txBody>
      </p:sp>
      <p:sp>
        <p:nvSpPr>
          <p:cNvPr id="17451" name="TextBox 17450"/>
          <p:cNvSpPr txBox="1"/>
          <p:nvPr/>
        </p:nvSpPr>
        <p:spPr>
          <a:xfrm>
            <a:off x="320040" y="5987697"/>
            <a:ext cx="11567160" cy="237744"/>
          </a:xfrm>
          <a:prstGeom prst="rect">
            <a:avLst/>
          </a:prstGeom>
          <a:noFill/>
        </p:spPr>
        <p:txBody>
          <a:bodyPr wrap="square" anchor="t" lIns="9144" rIns="9144" tIns="9144" bIns="9144">
            <a:noAutofit/>
          </a:bodyPr>
          <a:lstStyle/>
          <a:p>
            <a:pPr algn="ctr">
              <a:spcAft>
                <a:spcPts val="200"/>
              </a:spcAft>
            </a:pPr>
            <a:r>
              <a:rPr sz="900" b="1" i="0">
                <a:solidFill>
                  <a:srgbClr val="B23A2E"/>
                </a:solidFill>
                <a:latin typeface="Arial"/>
              </a:rPr>
              <a:t>Limits today: </a:t>
            </a:r>
            <a:r>
              <a:rPr sz="900" b="0" i="0">
                <a:solidFill>
                  <a:srgbClr val="1C2433"/>
                </a:solidFill>
                <a:latin typeface="Arial"/>
              </a:rPr>
              <a:t>3 held-out days (May 2026, NW India) · ML tested backward in time · single IR, 30-min · parallax not verified · no radar/lightning truth · replay, not live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SIH26084 - StormLife Nowcast</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a:t>THE FEVICONS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0040" y="969264"/>
            <a:ext cx="11521440" cy="310896"/>
          </a:xfrm>
          <a:prstGeom prst="rect">
            <a:avLst/>
          </a:prstGeom>
          <a:noFill/>
        </p:spPr>
        <p:txBody>
          <a:bodyPr wrap="square" anchor="t" lIns="54864" rIns="54864" tIns="54864" bIns="54864">
            <a:noAutofit/>
          </a:bodyPr>
          <a:lstStyle/>
          <a:p>
            <a:pPr algn="ctr">
              <a:spcAft>
                <a:spcPts val="200"/>
              </a:spcAft>
            </a:pPr>
            <a:r>
              <a:rPr sz="1300" b="1" i="0">
                <a:solidFill>
                  <a:srgbClr val="1F2A44"/>
                </a:solidFill>
                <a:latin typeface="Arial"/>
              </a:rPr>
              <a:t>One storm signal  →  three decision users</a:t>
            </a:r>
          </a:p>
        </p:txBody>
      </p:sp>
      <p:sp>
        <p:nvSpPr>
          <p:cNvPr id="17411" name="TextBox 17410"/>
          <p:cNvSpPr txBox="1"/>
          <p:nvPr/>
        </p:nvSpPr>
        <p:spPr>
          <a:xfrm>
            <a:off x="320040" y="1325880"/>
            <a:ext cx="347472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POTENTIAL IMPACT ON THE TARGET AUDIENCE</a:t>
            </a:r>
          </a:p>
        </p:txBody>
      </p:sp>
      <p:sp>
        <p:nvSpPr>
          <p:cNvPr id="17412" name="Rounded Rectangle 17411"/>
          <p:cNvSpPr/>
          <p:nvPr/>
        </p:nvSpPr>
        <p:spPr>
          <a:xfrm>
            <a:off x="4069080" y="1289304"/>
            <a:ext cx="4069080" cy="347472"/>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150" b="1" i="0">
                <a:solidFill>
                  <a:srgbClr val="FFFFFF"/>
                </a:solidFill>
                <a:latin typeface="Arial"/>
              </a:rPr>
              <a:t>STORMLIFE:  storm • forecast • skill • replay</a:t>
            </a:r>
          </a:p>
        </p:txBody>
      </p:sp>
      <p:sp>
        <p:nvSpPr>
          <p:cNvPr id="17413" name="Down Arrow 17412"/>
          <p:cNvSpPr/>
          <p:nvPr/>
        </p:nvSpPr>
        <p:spPr>
          <a:xfrm>
            <a:off x="2058923" y="1645920"/>
            <a:ext cx="256032" cy="182880"/>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320040" y="1847088"/>
            <a:ext cx="3733799" cy="2889504"/>
          </a:xfrm>
          <a:prstGeom prst="roundRect">
            <a:avLst>
              <a:gd name="adj" fmla="val 6000"/>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320040" y="1847088"/>
            <a:ext cx="3733799" cy="658368"/>
          </a:xfrm>
          <a:prstGeom prst="roundRect">
            <a:avLst>
              <a:gd name="adj" fmla="val 12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Oval 17415"/>
          <p:cNvSpPr/>
          <p:nvPr/>
        </p:nvSpPr>
        <p:spPr>
          <a:xfrm>
            <a:off x="411479" y="1920240"/>
            <a:ext cx="512064" cy="512064"/>
          </a:xfrm>
          <a:prstGeom prst="ellipse">
            <a:avLst/>
          </a:prstGeom>
          <a:solidFill>
            <a:srgbClr val="1F2A4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17" name="Picture 17416" descr="icon_forecaster.png"/>
          <p:cNvPicPr>
            <a:picLocks noChangeAspect="1"/>
          </p:cNvPicPr>
          <p:nvPr/>
        </p:nvPicPr>
        <p:blipFill>
          <a:blip r:embed="rId4"/>
          <a:stretch>
            <a:fillRect/>
          </a:stretch>
        </p:blipFill>
        <p:spPr>
          <a:xfrm>
            <a:off x="475488" y="1984248"/>
            <a:ext cx="384048" cy="384048"/>
          </a:xfrm>
          <a:prstGeom prst="rect">
            <a:avLst/>
          </a:prstGeom>
        </p:spPr>
      </p:pic>
      <p:sp>
        <p:nvSpPr>
          <p:cNvPr id="17418" name="TextBox 17417"/>
          <p:cNvSpPr txBox="1"/>
          <p:nvPr/>
        </p:nvSpPr>
        <p:spPr>
          <a:xfrm>
            <a:off x="996695" y="1901952"/>
            <a:ext cx="3002280" cy="548640"/>
          </a:xfrm>
          <a:prstGeom prst="rect">
            <a:avLst/>
          </a:prstGeom>
          <a:noFill/>
        </p:spPr>
        <p:txBody>
          <a:bodyPr wrap="square" anchor="ctr" lIns="18288" rIns="18288" tIns="18288" bIns="18288">
            <a:noAutofit/>
          </a:bodyPr>
          <a:lstStyle/>
          <a:p>
            <a:pPr algn="l">
              <a:spcAft>
                <a:spcPts val="200"/>
              </a:spcAft>
            </a:pPr>
            <a:r>
              <a:rPr sz="1150" b="1" i="0">
                <a:solidFill>
                  <a:srgbClr val="FFFFFF"/>
                </a:solidFill>
                <a:latin typeface="Arial"/>
              </a:rPr>
              <a:t>FORECASTER</a:t>
            </a:r>
          </a:p>
          <a:p>
            <a:pPr algn="l">
              <a:spcAft>
                <a:spcPts val="200"/>
              </a:spcAft>
            </a:pPr>
            <a:r>
              <a:rPr sz="900" b="0" i="0">
                <a:solidFill>
                  <a:srgbClr val="FFFFFF"/>
                </a:solidFill>
                <a:latin typeface="Arial"/>
              </a:rPr>
              <a:t>IMD / NCMRWF</a:t>
            </a:r>
          </a:p>
        </p:txBody>
      </p:sp>
      <p:sp>
        <p:nvSpPr>
          <p:cNvPr id="17419" name="TextBox 17418"/>
          <p:cNvSpPr txBox="1"/>
          <p:nvPr/>
        </p:nvSpPr>
        <p:spPr>
          <a:xfrm>
            <a:off x="411479" y="2560320"/>
            <a:ext cx="3550919" cy="347472"/>
          </a:xfrm>
          <a:prstGeom prst="rect">
            <a:avLst/>
          </a:prstGeom>
          <a:noFill/>
        </p:spPr>
        <p:txBody>
          <a:bodyPr wrap="square" anchor="ctr" lIns="9144" rIns="9144" tIns="9144" bIns="9144">
            <a:noAutofit/>
          </a:bodyPr>
          <a:lstStyle/>
          <a:p>
            <a:pPr algn="ctr">
              <a:spcAft>
                <a:spcPts val="200"/>
              </a:spcAft>
            </a:pPr>
            <a:r>
              <a:rPr sz="1200" b="1" i="1">
                <a:solidFill>
                  <a:srgbClr val="1F2A44"/>
                </a:solidFill>
                <a:latin typeface="Arial"/>
              </a:rPr>
              <a:t>“Where is convection developing?”</a:t>
            </a:r>
          </a:p>
        </p:txBody>
      </p:sp>
      <p:pic>
        <p:nvPicPr>
          <p:cNvPr id="17420" name="Picture 17419" descr="persona_forecaster.png"/>
          <p:cNvPicPr>
            <a:picLocks noChangeAspect="1"/>
          </p:cNvPicPr>
          <p:nvPr/>
        </p:nvPicPr>
        <p:blipFill>
          <a:blip r:embed="rId5"/>
          <a:srcRect b="42473"/>
          <a:stretch>
            <a:fillRect/>
          </a:stretch>
        </p:blipFill>
        <p:spPr>
          <a:xfrm>
            <a:off x="411479" y="2944368"/>
            <a:ext cx="3550919" cy="987552"/>
          </a:xfrm>
          <a:prstGeom prst="rect">
            <a:avLst/>
          </a:prstGeom>
          <a:ln w="9525">
            <a:solidFill>
              <a:srgbClr val="C9CED8"/>
            </a:solidFill>
          </a:ln>
        </p:spPr>
      </p:pic>
      <p:sp>
        <p:nvSpPr>
          <p:cNvPr id="17421" name="Rounded Rectangle 17420"/>
          <p:cNvSpPr/>
          <p:nvPr/>
        </p:nvSpPr>
        <p:spPr>
          <a:xfrm>
            <a:off x="411479" y="3995928"/>
            <a:ext cx="749808" cy="219456"/>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SEES</a:t>
            </a:r>
          </a:p>
        </p:txBody>
      </p:sp>
      <p:sp>
        <p:nvSpPr>
          <p:cNvPr id="17422" name="TextBox 17421"/>
          <p:cNvSpPr txBox="1"/>
          <p:nvPr/>
        </p:nvSpPr>
        <p:spPr>
          <a:xfrm>
            <a:off x="1216152" y="3968496"/>
            <a:ext cx="2764535" cy="274320"/>
          </a:xfrm>
          <a:prstGeom prst="rect">
            <a:avLst/>
          </a:prstGeom>
          <a:noFill/>
        </p:spPr>
        <p:txBody>
          <a:bodyPr wrap="square" anchor="ctr" lIns="9144" rIns="9144" tIns="9144" bIns="9144">
            <a:noAutofit/>
          </a:bodyPr>
          <a:lstStyle/>
          <a:p>
            <a:pPr algn="l">
              <a:spcAft>
                <a:spcPts val="200"/>
              </a:spcAft>
            </a:pPr>
            <a:r>
              <a:rPr sz="980" b="0" i="0">
                <a:solidFill>
                  <a:srgbClr val="1C2433"/>
                </a:solidFill>
                <a:latin typeface="Arial"/>
              </a:rPr>
              <a:t>Storm location + motion + forecast skill</a:t>
            </a:r>
          </a:p>
        </p:txBody>
      </p:sp>
      <p:sp>
        <p:nvSpPr>
          <p:cNvPr id="17423" name="Rounded Rectangle 17422"/>
          <p:cNvSpPr/>
          <p:nvPr/>
        </p:nvSpPr>
        <p:spPr>
          <a:xfrm>
            <a:off x="411479" y="4370832"/>
            <a:ext cx="749808" cy="219456"/>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DECISION</a:t>
            </a:r>
          </a:p>
        </p:txBody>
      </p:sp>
      <p:sp>
        <p:nvSpPr>
          <p:cNvPr id="17424" name="TextBox 17423"/>
          <p:cNvSpPr txBox="1"/>
          <p:nvPr/>
        </p:nvSpPr>
        <p:spPr>
          <a:xfrm>
            <a:off x="1216152" y="4270248"/>
            <a:ext cx="2764535" cy="420624"/>
          </a:xfrm>
          <a:prstGeom prst="rect">
            <a:avLst/>
          </a:prstGeom>
          <a:noFill/>
        </p:spPr>
        <p:txBody>
          <a:bodyPr wrap="square" anchor="ctr" lIns="9144" rIns="9144" tIns="9144" bIns="9144">
            <a:noAutofit/>
          </a:bodyPr>
          <a:lstStyle/>
          <a:p>
            <a:pPr algn="l">
              <a:spcAft>
                <a:spcPts val="200"/>
              </a:spcAft>
            </a:pPr>
            <a:r>
              <a:rPr sz="980" b="1" i="0">
                <a:solidFill>
                  <a:srgbClr val="1C2433"/>
                </a:solidFill>
                <a:latin typeface="Arial"/>
              </a:rPr>
              <a:t>Compare forecast methods and focus attention</a:t>
            </a:r>
          </a:p>
        </p:txBody>
      </p:sp>
      <p:sp>
        <p:nvSpPr>
          <p:cNvPr id="17425" name="Down Arrow 17424"/>
          <p:cNvSpPr/>
          <p:nvPr/>
        </p:nvSpPr>
        <p:spPr>
          <a:xfrm>
            <a:off x="5975603" y="1645920"/>
            <a:ext cx="256032" cy="182880"/>
          </a:xfrm>
          <a:prstGeom prst="downArrow">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ounded Rectangle 17425"/>
          <p:cNvSpPr/>
          <p:nvPr/>
        </p:nvSpPr>
        <p:spPr>
          <a:xfrm>
            <a:off x="4236720" y="1847088"/>
            <a:ext cx="3733799" cy="2889504"/>
          </a:xfrm>
          <a:prstGeom prst="roundRect">
            <a:avLst>
              <a:gd name="adj" fmla="val 6000"/>
            </a:avLst>
          </a:prstGeom>
          <a:solidFill>
            <a:srgbClr val="FFFFFF"/>
          </a:solidFill>
          <a:ln w="1905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4236720" y="1847088"/>
            <a:ext cx="3733799" cy="658368"/>
          </a:xfrm>
          <a:prstGeom prst="roundRect">
            <a:avLst>
              <a:gd name="adj" fmla="val 12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Oval 17427"/>
          <p:cNvSpPr/>
          <p:nvPr/>
        </p:nvSpPr>
        <p:spPr>
          <a:xfrm>
            <a:off x="4328159" y="1920240"/>
            <a:ext cx="512064" cy="512064"/>
          </a:xfrm>
          <a:prstGeom prst="ellipse">
            <a:avLst/>
          </a:prstGeom>
          <a:solidFill>
            <a:srgbClr val="B23A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9" name="Picture 17428" descr="icon_official.png"/>
          <p:cNvPicPr>
            <a:picLocks noChangeAspect="1"/>
          </p:cNvPicPr>
          <p:nvPr/>
        </p:nvPicPr>
        <p:blipFill>
          <a:blip r:embed="rId6"/>
          <a:stretch>
            <a:fillRect/>
          </a:stretch>
        </p:blipFill>
        <p:spPr>
          <a:xfrm>
            <a:off x="4392167" y="1984248"/>
            <a:ext cx="384048" cy="384048"/>
          </a:xfrm>
          <a:prstGeom prst="rect">
            <a:avLst/>
          </a:prstGeom>
        </p:spPr>
      </p:pic>
      <p:sp>
        <p:nvSpPr>
          <p:cNvPr id="17430" name="TextBox 17429"/>
          <p:cNvSpPr txBox="1"/>
          <p:nvPr/>
        </p:nvSpPr>
        <p:spPr>
          <a:xfrm>
            <a:off x="4913376" y="1901952"/>
            <a:ext cx="3002280" cy="548640"/>
          </a:xfrm>
          <a:prstGeom prst="rect">
            <a:avLst/>
          </a:prstGeom>
          <a:noFill/>
        </p:spPr>
        <p:txBody>
          <a:bodyPr wrap="square" anchor="ctr" lIns="18288" rIns="18288" tIns="18288" bIns="18288">
            <a:noAutofit/>
          </a:bodyPr>
          <a:lstStyle/>
          <a:p>
            <a:pPr algn="l">
              <a:spcAft>
                <a:spcPts val="200"/>
              </a:spcAft>
            </a:pPr>
            <a:r>
              <a:rPr sz="1150" b="1" i="0">
                <a:solidFill>
                  <a:srgbClr val="FFFFFF"/>
                </a:solidFill>
                <a:latin typeface="Arial"/>
              </a:rPr>
              <a:t>DISTRICT DISASTER OFFICIAL</a:t>
            </a:r>
          </a:p>
          <a:p>
            <a:pPr algn="l">
              <a:spcAft>
                <a:spcPts val="200"/>
              </a:spcAft>
            </a:pPr>
            <a:r>
              <a:rPr sz="900" b="0" i="0">
                <a:solidFill>
                  <a:srgbClr val="FFFFFF"/>
                </a:solidFill>
                <a:latin typeface="Arial"/>
              </a:rPr>
              <a:t>district level</a:t>
            </a:r>
          </a:p>
        </p:txBody>
      </p:sp>
      <p:sp>
        <p:nvSpPr>
          <p:cNvPr id="17431" name="TextBox 17430"/>
          <p:cNvSpPr txBox="1"/>
          <p:nvPr/>
        </p:nvSpPr>
        <p:spPr>
          <a:xfrm>
            <a:off x="4328159" y="2560320"/>
            <a:ext cx="3550919" cy="347472"/>
          </a:xfrm>
          <a:prstGeom prst="rect">
            <a:avLst/>
          </a:prstGeom>
          <a:noFill/>
        </p:spPr>
        <p:txBody>
          <a:bodyPr wrap="square" anchor="ctr" lIns="9144" rIns="9144" tIns="9144" bIns="9144">
            <a:noAutofit/>
          </a:bodyPr>
          <a:lstStyle/>
          <a:p>
            <a:pPr algn="ctr">
              <a:spcAft>
                <a:spcPts val="200"/>
              </a:spcAft>
            </a:pPr>
            <a:r>
              <a:rPr sz="1200" b="1" i="1">
                <a:solidFill>
                  <a:srgbClr val="B23A2E"/>
                </a:solidFill>
                <a:latin typeface="Arial"/>
              </a:rPr>
              <a:t>“Where should attention be focused?”</a:t>
            </a:r>
          </a:p>
        </p:txBody>
      </p:sp>
      <p:pic>
        <p:nvPicPr>
          <p:cNvPr id="17432" name="Picture 17431" descr="persona_official.png"/>
          <p:cNvPicPr>
            <a:picLocks noChangeAspect="1"/>
          </p:cNvPicPr>
          <p:nvPr/>
        </p:nvPicPr>
        <p:blipFill>
          <a:blip r:embed="rId7"/>
          <a:srcRect b="41801"/>
          <a:stretch>
            <a:fillRect/>
          </a:stretch>
        </p:blipFill>
        <p:spPr>
          <a:xfrm>
            <a:off x="4328159" y="2944368"/>
            <a:ext cx="3550919" cy="987552"/>
          </a:xfrm>
          <a:prstGeom prst="rect">
            <a:avLst/>
          </a:prstGeom>
          <a:ln w="9525">
            <a:solidFill>
              <a:srgbClr val="C9CED8"/>
            </a:solidFill>
          </a:ln>
        </p:spPr>
      </p:pic>
      <p:sp>
        <p:nvSpPr>
          <p:cNvPr id="17433" name="Rounded Rectangle 17432"/>
          <p:cNvSpPr/>
          <p:nvPr/>
        </p:nvSpPr>
        <p:spPr>
          <a:xfrm>
            <a:off x="4328159" y="3995928"/>
            <a:ext cx="749808" cy="219456"/>
          </a:xfrm>
          <a:prstGeom prst="roundRect">
            <a:avLst>
              <a:gd name="adj" fmla="val 4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SEES</a:t>
            </a:r>
          </a:p>
        </p:txBody>
      </p:sp>
      <p:sp>
        <p:nvSpPr>
          <p:cNvPr id="17434" name="TextBox 17433"/>
          <p:cNvSpPr txBox="1"/>
          <p:nvPr/>
        </p:nvSpPr>
        <p:spPr>
          <a:xfrm>
            <a:off x="5132832" y="3968496"/>
            <a:ext cx="2764535" cy="274320"/>
          </a:xfrm>
          <a:prstGeom prst="rect">
            <a:avLst/>
          </a:prstGeom>
          <a:noFill/>
        </p:spPr>
        <p:txBody>
          <a:bodyPr wrap="square" anchor="ctr" lIns="9144" rIns="9144" tIns="9144" bIns="9144">
            <a:noAutofit/>
          </a:bodyPr>
          <a:lstStyle/>
          <a:p>
            <a:pPr algn="l">
              <a:spcAft>
                <a:spcPts val="200"/>
              </a:spcAft>
            </a:pPr>
            <a:r>
              <a:rPr sz="980" b="0" i="0">
                <a:solidFill>
                  <a:srgbClr val="1C2433"/>
                </a:solidFill>
                <a:latin typeface="Arial"/>
              </a:rPr>
              <a:t>Probability + forecast track + replay</a:t>
            </a:r>
          </a:p>
        </p:txBody>
      </p:sp>
      <p:sp>
        <p:nvSpPr>
          <p:cNvPr id="17435" name="Rounded Rectangle 17434"/>
          <p:cNvSpPr/>
          <p:nvPr/>
        </p:nvSpPr>
        <p:spPr>
          <a:xfrm>
            <a:off x="4328159" y="4370832"/>
            <a:ext cx="749808" cy="219456"/>
          </a:xfrm>
          <a:prstGeom prst="roundRect">
            <a:avLst>
              <a:gd name="adj" fmla="val 40000"/>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DECISION</a:t>
            </a:r>
          </a:p>
        </p:txBody>
      </p:sp>
      <p:sp>
        <p:nvSpPr>
          <p:cNvPr id="17436" name="TextBox 17435"/>
          <p:cNvSpPr txBox="1"/>
          <p:nvPr/>
        </p:nvSpPr>
        <p:spPr>
          <a:xfrm>
            <a:off x="5132832" y="4270248"/>
            <a:ext cx="2764535" cy="420624"/>
          </a:xfrm>
          <a:prstGeom prst="rect">
            <a:avLst/>
          </a:prstGeom>
          <a:noFill/>
        </p:spPr>
        <p:txBody>
          <a:bodyPr wrap="square" anchor="ctr" lIns="9144" rIns="9144" tIns="9144" bIns="9144">
            <a:noAutofit/>
          </a:bodyPr>
          <a:lstStyle/>
          <a:p>
            <a:pPr algn="l">
              <a:spcAft>
                <a:spcPts val="200"/>
              </a:spcAft>
            </a:pPr>
            <a:r>
              <a:rPr sz="980" b="1" i="0">
                <a:solidFill>
                  <a:srgbClr val="1C2433"/>
                </a:solidFill>
                <a:latin typeface="Arial"/>
              </a:rPr>
              <a:t>Prioritize areas for exercise / advisory review</a:t>
            </a:r>
          </a:p>
        </p:txBody>
      </p:sp>
      <p:sp>
        <p:nvSpPr>
          <p:cNvPr id="17437" name="Rounded Rectangle 17436"/>
          <p:cNvSpPr/>
          <p:nvPr/>
        </p:nvSpPr>
        <p:spPr>
          <a:xfrm>
            <a:off x="6031991" y="2231136"/>
            <a:ext cx="1865376" cy="219456"/>
          </a:xfrm>
          <a:prstGeom prst="roundRect">
            <a:avLst>
              <a:gd name="adj" fmla="val 40000"/>
            </a:avLst>
          </a:prstGeom>
          <a:solidFill>
            <a:srgbClr val="C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EXERCISE / NOT OPERATIONAL</a:t>
            </a:r>
          </a:p>
        </p:txBody>
      </p:sp>
      <p:sp>
        <p:nvSpPr>
          <p:cNvPr id="17438" name="Down Arrow 17437"/>
          <p:cNvSpPr/>
          <p:nvPr/>
        </p:nvSpPr>
        <p:spPr>
          <a:xfrm>
            <a:off x="9892283" y="1645920"/>
            <a:ext cx="256032" cy="182880"/>
          </a:xfrm>
          <a:prstGeom prst="downArrow">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Rounded Rectangle 17438"/>
          <p:cNvSpPr/>
          <p:nvPr/>
        </p:nvSpPr>
        <p:spPr>
          <a:xfrm>
            <a:off x="8153399" y="1847088"/>
            <a:ext cx="3733799" cy="2889504"/>
          </a:xfrm>
          <a:prstGeom prst="roundRect">
            <a:avLst>
              <a:gd name="adj" fmla="val 6000"/>
            </a:avLst>
          </a:prstGeom>
          <a:solidFill>
            <a:srgbClr val="FFFFFF"/>
          </a:solidFill>
          <a:ln w="1905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Rounded Rectangle 17439"/>
          <p:cNvSpPr/>
          <p:nvPr/>
        </p:nvSpPr>
        <p:spPr>
          <a:xfrm>
            <a:off x="8153399" y="1847088"/>
            <a:ext cx="3733799" cy="658368"/>
          </a:xfrm>
          <a:prstGeom prst="roundRect">
            <a:avLst>
              <a:gd name="adj" fmla="val 12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1" name="Oval 17440"/>
          <p:cNvSpPr/>
          <p:nvPr/>
        </p:nvSpPr>
        <p:spPr>
          <a:xfrm>
            <a:off x="8244839" y="1920240"/>
            <a:ext cx="512064" cy="512064"/>
          </a:xfrm>
          <a:prstGeom prst="ellipse">
            <a:avLst/>
          </a:prstGeom>
          <a:solidFill>
            <a:srgbClr val="138086"/>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2" name="Picture 17441" descr="icon_researcher.png"/>
          <p:cNvPicPr>
            <a:picLocks noChangeAspect="1"/>
          </p:cNvPicPr>
          <p:nvPr/>
        </p:nvPicPr>
        <p:blipFill>
          <a:blip r:embed="rId8"/>
          <a:stretch>
            <a:fillRect/>
          </a:stretch>
        </p:blipFill>
        <p:spPr>
          <a:xfrm>
            <a:off x="8308847" y="1984248"/>
            <a:ext cx="384048" cy="384048"/>
          </a:xfrm>
          <a:prstGeom prst="rect">
            <a:avLst/>
          </a:prstGeom>
        </p:spPr>
      </p:pic>
      <p:sp>
        <p:nvSpPr>
          <p:cNvPr id="17443" name="TextBox 17442"/>
          <p:cNvSpPr txBox="1"/>
          <p:nvPr/>
        </p:nvSpPr>
        <p:spPr>
          <a:xfrm>
            <a:off x="8830056" y="1901952"/>
            <a:ext cx="3002280" cy="548640"/>
          </a:xfrm>
          <a:prstGeom prst="rect">
            <a:avLst/>
          </a:prstGeom>
          <a:noFill/>
        </p:spPr>
        <p:txBody>
          <a:bodyPr wrap="square" anchor="ctr" lIns="18288" rIns="18288" tIns="18288" bIns="18288">
            <a:noAutofit/>
          </a:bodyPr>
          <a:lstStyle/>
          <a:p>
            <a:pPr algn="l">
              <a:spcAft>
                <a:spcPts val="200"/>
              </a:spcAft>
            </a:pPr>
            <a:r>
              <a:rPr sz="1150" b="1" i="0">
                <a:solidFill>
                  <a:srgbClr val="FFFFFF"/>
                </a:solidFill>
                <a:latin typeface="Arial"/>
              </a:rPr>
              <a:t>RESEARCHER / EVALUATOR</a:t>
            </a:r>
          </a:p>
          <a:p>
            <a:pPr algn="l">
              <a:spcAft>
                <a:spcPts val="200"/>
              </a:spcAft>
            </a:pPr>
            <a:r>
              <a:rPr sz="900" b="0" i="0">
                <a:solidFill>
                  <a:srgbClr val="FFFFFF"/>
                </a:solidFill>
                <a:latin typeface="Arial"/>
              </a:rPr>
              <a:t>research</a:t>
            </a:r>
          </a:p>
        </p:txBody>
      </p:sp>
      <p:sp>
        <p:nvSpPr>
          <p:cNvPr id="17444" name="TextBox 17443"/>
          <p:cNvSpPr txBox="1"/>
          <p:nvPr/>
        </p:nvSpPr>
        <p:spPr>
          <a:xfrm>
            <a:off x="8244839" y="2560320"/>
            <a:ext cx="3550919" cy="347472"/>
          </a:xfrm>
          <a:prstGeom prst="rect">
            <a:avLst/>
          </a:prstGeom>
          <a:noFill/>
        </p:spPr>
        <p:txBody>
          <a:bodyPr wrap="square" anchor="ctr" lIns="9144" rIns="9144" tIns="9144" bIns="9144">
            <a:noAutofit/>
          </a:bodyPr>
          <a:lstStyle/>
          <a:p>
            <a:pPr algn="ctr">
              <a:spcAft>
                <a:spcPts val="200"/>
              </a:spcAft>
            </a:pPr>
            <a:r>
              <a:rPr sz="1200" b="1" i="1">
                <a:solidFill>
                  <a:srgbClr val="138086"/>
                </a:solidFill>
                <a:latin typeface="Arial"/>
              </a:rPr>
              <a:t>“Did the system predict what happened?”</a:t>
            </a:r>
          </a:p>
        </p:txBody>
      </p:sp>
      <p:pic>
        <p:nvPicPr>
          <p:cNvPr id="17445" name="Picture 17444" descr="persona_researcher.png"/>
          <p:cNvPicPr>
            <a:picLocks noChangeAspect="1"/>
          </p:cNvPicPr>
          <p:nvPr/>
        </p:nvPicPr>
        <p:blipFill>
          <a:blip r:embed="rId9"/>
          <a:srcRect b="42473"/>
          <a:stretch>
            <a:fillRect/>
          </a:stretch>
        </p:blipFill>
        <p:spPr>
          <a:xfrm>
            <a:off x="8244839" y="2944368"/>
            <a:ext cx="3550919" cy="987552"/>
          </a:xfrm>
          <a:prstGeom prst="rect">
            <a:avLst/>
          </a:prstGeom>
          <a:ln w="9525">
            <a:solidFill>
              <a:srgbClr val="C9CED8"/>
            </a:solidFill>
          </a:ln>
        </p:spPr>
      </p:pic>
      <p:sp>
        <p:nvSpPr>
          <p:cNvPr id="17446" name="Rounded Rectangle 17445"/>
          <p:cNvSpPr/>
          <p:nvPr/>
        </p:nvSpPr>
        <p:spPr>
          <a:xfrm>
            <a:off x="8244839" y="3995928"/>
            <a:ext cx="749808" cy="219456"/>
          </a:xfrm>
          <a:prstGeom prst="roundRect">
            <a:avLst>
              <a:gd name="adj" fmla="val 40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SEES</a:t>
            </a:r>
          </a:p>
        </p:txBody>
      </p:sp>
      <p:sp>
        <p:nvSpPr>
          <p:cNvPr id="17447" name="TextBox 17446"/>
          <p:cNvSpPr txBox="1"/>
          <p:nvPr/>
        </p:nvSpPr>
        <p:spPr>
          <a:xfrm>
            <a:off x="9049512" y="3968496"/>
            <a:ext cx="2764535" cy="274320"/>
          </a:xfrm>
          <a:prstGeom prst="rect">
            <a:avLst/>
          </a:prstGeom>
          <a:noFill/>
        </p:spPr>
        <p:txBody>
          <a:bodyPr wrap="square" anchor="ctr" lIns="9144" rIns="9144" tIns="9144" bIns="9144">
            <a:noAutofit/>
          </a:bodyPr>
          <a:lstStyle/>
          <a:p>
            <a:pPr algn="l">
              <a:spcAft>
                <a:spcPts val="200"/>
              </a:spcAft>
            </a:pPr>
            <a:r>
              <a:rPr sz="980" b="0" i="0">
                <a:solidFill>
                  <a:srgbClr val="1C2433"/>
                </a:solidFill>
                <a:latin typeface="Arial"/>
              </a:rPr>
              <a:t>Replay + held-out events + baseline comparison</a:t>
            </a:r>
          </a:p>
        </p:txBody>
      </p:sp>
      <p:sp>
        <p:nvSpPr>
          <p:cNvPr id="17448" name="Rounded Rectangle 17447"/>
          <p:cNvSpPr/>
          <p:nvPr/>
        </p:nvSpPr>
        <p:spPr>
          <a:xfrm>
            <a:off x="8244839" y="4370832"/>
            <a:ext cx="749808" cy="219456"/>
          </a:xfrm>
          <a:prstGeom prst="roundRect">
            <a:avLst>
              <a:gd name="adj" fmla="val 40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200"/>
              </a:spcAft>
            </a:pPr>
            <a:r>
              <a:rPr sz="880" b="1" i="0">
                <a:solidFill>
                  <a:srgbClr val="FFFFFF"/>
                </a:solidFill>
                <a:latin typeface="Arial"/>
              </a:rPr>
              <a:t>DECISION</a:t>
            </a:r>
          </a:p>
        </p:txBody>
      </p:sp>
      <p:sp>
        <p:nvSpPr>
          <p:cNvPr id="17449" name="TextBox 17448"/>
          <p:cNvSpPr txBox="1"/>
          <p:nvPr/>
        </p:nvSpPr>
        <p:spPr>
          <a:xfrm>
            <a:off x="9049512" y="4270248"/>
            <a:ext cx="2764535" cy="420624"/>
          </a:xfrm>
          <a:prstGeom prst="rect">
            <a:avLst/>
          </a:prstGeom>
          <a:noFill/>
        </p:spPr>
        <p:txBody>
          <a:bodyPr wrap="square" anchor="ctr" lIns="9144" rIns="9144" tIns="9144" bIns="9144">
            <a:noAutofit/>
          </a:bodyPr>
          <a:lstStyle/>
          <a:p>
            <a:pPr algn="l">
              <a:spcAft>
                <a:spcPts val="200"/>
              </a:spcAft>
            </a:pPr>
            <a:r>
              <a:rPr sz="980" b="1" i="0">
                <a:solidFill>
                  <a:srgbClr val="1C2433"/>
                </a:solidFill>
                <a:latin typeface="Arial"/>
              </a:rPr>
              <a:t>Evaluate model skill, limitations and reproducibility</a:t>
            </a:r>
          </a:p>
        </p:txBody>
      </p:sp>
      <p:sp>
        <p:nvSpPr>
          <p:cNvPr id="17450" name="TextBox 17449"/>
          <p:cNvSpPr txBox="1"/>
          <p:nvPr/>
        </p:nvSpPr>
        <p:spPr>
          <a:xfrm>
            <a:off x="320040" y="4818888"/>
            <a:ext cx="115214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BENEFITS OF THE SOLUTION (SOCIAL, ECONOMIC, ENVIRONMENTAL, ETC.)</a:t>
            </a:r>
          </a:p>
        </p:txBody>
      </p:sp>
      <p:sp>
        <p:nvSpPr>
          <p:cNvPr id="17451" name="Rounded Rectangle 17450"/>
          <p:cNvSpPr/>
          <p:nvPr/>
        </p:nvSpPr>
        <p:spPr>
          <a:xfrm>
            <a:off x="320040" y="5102352"/>
            <a:ext cx="2788920" cy="585216"/>
          </a:xfrm>
          <a:prstGeom prst="roundRect">
            <a:avLst>
              <a:gd name="adj" fmla="val 45000"/>
            </a:avLst>
          </a:prstGeom>
          <a:solidFill>
            <a:srgbClr val="FFFFFF"/>
          </a:solidFill>
          <a:ln w="1905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B23A2E"/>
                </a:solidFill>
                <a:latin typeface="Arial"/>
              </a:rPr>
              <a:t>SOCIAL</a:t>
            </a:r>
          </a:p>
          <a:p>
            <a:pPr algn="ctr">
              <a:spcAft>
                <a:spcPts val="200"/>
              </a:spcAft>
            </a:pPr>
            <a:r>
              <a:rPr sz="960" b="0" i="0">
                <a:solidFill>
                  <a:srgbClr val="1C2433"/>
                </a:solidFill>
                <a:latin typeface="Arial"/>
              </a:rPr>
              <a:t>Potential earlier awareness of deep convection</a:t>
            </a:r>
          </a:p>
        </p:txBody>
      </p:sp>
      <p:sp>
        <p:nvSpPr>
          <p:cNvPr id="17452" name="Rounded Rectangle 17451"/>
          <p:cNvSpPr/>
          <p:nvPr/>
        </p:nvSpPr>
        <p:spPr>
          <a:xfrm>
            <a:off x="3246120" y="5102352"/>
            <a:ext cx="2788920" cy="585216"/>
          </a:xfrm>
          <a:prstGeom prst="roundRect">
            <a:avLst>
              <a:gd name="adj" fmla="val 45000"/>
            </a:avLst>
          </a:prstGeom>
          <a:solidFill>
            <a:srgbClr val="FFFFFF"/>
          </a:solidFill>
          <a:ln w="19050">
            <a:solidFill>
              <a:srgbClr val="C9822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C9822B"/>
                </a:solidFill>
                <a:latin typeface="Arial"/>
              </a:rPr>
              <a:t>ECONOMIC</a:t>
            </a:r>
          </a:p>
          <a:p>
            <a:pPr algn="ctr">
              <a:spcAft>
                <a:spcPts val="200"/>
              </a:spcAft>
            </a:pPr>
            <a:r>
              <a:rPr sz="960" b="0" i="0">
                <a:solidFill>
                  <a:srgbClr val="1C2433"/>
                </a:solidFill>
                <a:latin typeface="Arial"/>
              </a:rPr>
              <a:t>Open-data + open-source prototype</a:t>
            </a:r>
          </a:p>
        </p:txBody>
      </p:sp>
      <p:sp>
        <p:nvSpPr>
          <p:cNvPr id="17453" name="Rounded Rectangle 17452"/>
          <p:cNvSpPr/>
          <p:nvPr/>
        </p:nvSpPr>
        <p:spPr>
          <a:xfrm>
            <a:off x="6172200" y="5102352"/>
            <a:ext cx="2788920" cy="585216"/>
          </a:xfrm>
          <a:prstGeom prst="roundRect">
            <a:avLst>
              <a:gd name="adj" fmla="val 45000"/>
            </a:avLst>
          </a:prstGeom>
          <a:solidFill>
            <a:srgbClr val="FFFFFF"/>
          </a:solidFill>
          <a:ln w="19050">
            <a:solidFill>
              <a:srgbClr val="2F6B4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2F6B4F"/>
                </a:solidFill>
                <a:latin typeface="Arial"/>
              </a:rPr>
              <a:t>ENVIRONMENTAL</a:t>
            </a:r>
          </a:p>
          <a:p>
            <a:pPr algn="ctr">
              <a:spcAft>
                <a:spcPts val="200"/>
              </a:spcAft>
            </a:pPr>
            <a:r>
              <a:rPr sz="960" b="0" i="0">
                <a:solidFill>
                  <a:srgbClr val="1C2433"/>
                </a:solidFill>
                <a:latin typeface="Arial"/>
              </a:rPr>
              <a:t>Satellite-first; no new sensing hardware</a:t>
            </a:r>
          </a:p>
        </p:txBody>
      </p:sp>
      <p:sp>
        <p:nvSpPr>
          <p:cNvPr id="17454" name="Rounded Rectangle 17453"/>
          <p:cNvSpPr/>
          <p:nvPr/>
        </p:nvSpPr>
        <p:spPr>
          <a:xfrm>
            <a:off x="9098280" y="5102352"/>
            <a:ext cx="2788920" cy="585216"/>
          </a:xfrm>
          <a:prstGeom prst="roundRect">
            <a:avLst>
              <a:gd name="adj" fmla="val 45000"/>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2A44"/>
                </a:solidFill>
                <a:latin typeface="Arial"/>
              </a:rPr>
              <a:t>TRUST</a:t>
            </a:r>
          </a:p>
          <a:p>
            <a:pPr algn="ctr">
              <a:spcAft>
                <a:spcPts val="200"/>
              </a:spcAft>
            </a:pPr>
            <a:r>
              <a:rPr sz="960" b="0" i="0">
                <a:solidFill>
                  <a:srgbClr val="1C2433"/>
                </a:solidFill>
                <a:latin typeface="Arial"/>
              </a:rPr>
              <a:t>Traceable metrics + visible limitations</a:t>
            </a:r>
          </a:p>
        </p:txBody>
      </p:sp>
      <p:sp>
        <p:nvSpPr>
          <p:cNvPr id="17455" name="TextBox 17454"/>
          <p:cNvSpPr txBox="1"/>
          <p:nvPr/>
        </p:nvSpPr>
        <p:spPr>
          <a:xfrm>
            <a:off x="320040" y="5815584"/>
            <a:ext cx="11567160" cy="274320"/>
          </a:xfrm>
          <a:prstGeom prst="rect">
            <a:avLst/>
          </a:prstGeom>
          <a:noFill/>
        </p:spPr>
        <p:txBody>
          <a:bodyPr wrap="square" anchor="t" lIns="9144" rIns="9144" tIns="9144" bIns="9144">
            <a:noAutofit/>
          </a:bodyPr>
          <a:lstStyle/>
          <a:p>
            <a:pPr algn="ctr">
              <a:spcAft>
                <a:spcPts val="200"/>
              </a:spcAft>
            </a:pPr>
            <a:r>
              <a:rPr sz="950" b="0" i="1">
                <a:solidFill>
                  <a:srgbClr val="555E6B"/>
                </a:solidFill>
                <a:latin typeface="Arial"/>
              </a:rPr>
              <a:t>Research prototype • replay of real satellite data • not operational • exercise alerts only</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SIH26084 - StormLife Nowcast</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a:t>THE FEVICONS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0040" y="987552"/>
            <a:ext cx="11521440" cy="310896"/>
          </a:xfrm>
          <a:prstGeom prst="rect">
            <a:avLst/>
          </a:prstGeom>
          <a:noFill/>
        </p:spPr>
        <p:txBody>
          <a:bodyPr wrap="square" anchor="t" lIns="54864" rIns="54864" tIns="54864" bIns="54864">
            <a:noAutofit/>
          </a:bodyPr>
          <a:lstStyle/>
          <a:p>
            <a:pPr algn="ctr">
              <a:spcAft>
                <a:spcPts val="200"/>
              </a:spcAft>
            </a:pPr>
            <a:r>
              <a:rPr sz="1250" b="1" i="0">
                <a:solidFill>
                  <a:srgbClr val="1F2A44"/>
                </a:solidFill>
                <a:latin typeface="Arial"/>
              </a:rPr>
              <a:t>Research question  →  StormLife contribution  →  verified prototype  →  data sources  →  methods &amp; reproducibility</a:t>
            </a:r>
          </a:p>
        </p:txBody>
      </p:sp>
      <p:sp>
        <p:nvSpPr>
          <p:cNvPr id="17411" name="TextBox 17410"/>
          <p:cNvSpPr txBox="1"/>
          <p:nvPr/>
        </p:nvSpPr>
        <p:spPr>
          <a:xfrm>
            <a:off x="320040" y="1325880"/>
            <a:ext cx="361188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EXISTING APPROACHES</a:t>
            </a:r>
          </a:p>
        </p:txBody>
      </p:sp>
      <p:sp>
        <p:nvSpPr>
          <p:cNvPr id="17412" name="Rounded Rectangle 17411"/>
          <p:cNvSpPr/>
          <p:nvPr/>
        </p:nvSpPr>
        <p:spPr>
          <a:xfrm>
            <a:off x="320040" y="1591056"/>
            <a:ext cx="1760220" cy="566928"/>
          </a:xfrm>
          <a:prstGeom prst="roundRect">
            <a:avLst>
              <a:gd name="adj" fmla="val 7000"/>
            </a:avLst>
          </a:prstGeom>
          <a:solidFill>
            <a:srgbClr val="F3F5F8"/>
          </a:solidFill>
          <a:ln w="952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2A44"/>
                </a:solidFill>
                <a:latin typeface="Arial"/>
              </a:rPr>
              <a:t>RADAR</a:t>
            </a:r>
          </a:p>
          <a:p>
            <a:pPr algn="ctr">
              <a:spcAft>
                <a:spcPts val="200"/>
              </a:spcAft>
            </a:pPr>
            <a:r>
              <a:rPr sz="880" b="0" i="0">
                <a:solidFill>
                  <a:srgbClr val="1C2433"/>
                </a:solidFill>
                <a:latin typeface="Arial"/>
              </a:rPr>
              <a:t>cell tracking, e.g. MeteoSwiss TRT; IMD radar nowcasts</a:t>
            </a:r>
          </a:p>
        </p:txBody>
      </p:sp>
      <p:sp>
        <p:nvSpPr>
          <p:cNvPr id="17413" name="Rounded Rectangle 17412"/>
          <p:cNvSpPr/>
          <p:nvPr/>
        </p:nvSpPr>
        <p:spPr>
          <a:xfrm>
            <a:off x="2171700" y="1591056"/>
            <a:ext cx="1760220" cy="566928"/>
          </a:xfrm>
          <a:prstGeom prst="roundRect">
            <a:avLst>
              <a:gd name="adj" fmla="val 7000"/>
            </a:avLst>
          </a:prstGeom>
          <a:solidFill>
            <a:srgbClr val="F3F5F8"/>
          </a:solidFill>
          <a:ln w="952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2A44"/>
                </a:solidFill>
                <a:latin typeface="Arial"/>
              </a:rPr>
              <a:t>LIGHTNING</a:t>
            </a:r>
          </a:p>
          <a:p>
            <a:pPr algn="ctr">
              <a:spcAft>
                <a:spcPts val="200"/>
              </a:spcAft>
            </a:pPr>
            <a:r>
              <a:rPr sz="880" b="0" i="0">
                <a:solidFill>
                  <a:srgbClr val="1C2433"/>
                </a:solidFill>
                <a:latin typeface="Arial"/>
              </a:rPr>
              <a:t>flash data in severe-storm guidance</a:t>
            </a:r>
          </a:p>
        </p:txBody>
      </p:sp>
      <p:sp>
        <p:nvSpPr>
          <p:cNvPr id="17414" name="Rounded Rectangle 17413"/>
          <p:cNvSpPr/>
          <p:nvPr/>
        </p:nvSpPr>
        <p:spPr>
          <a:xfrm>
            <a:off x="320040" y="2231136"/>
            <a:ext cx="1760220" cy="566928"/>
          </a:xfrm>
          <a:prstGeom prst="roundRect">
            <a:avLst>
              <a:gd name="adj" fmla="val 7000"/>
            </a:avLst>
          </a:prstGeom>
          <a:solidFill>
            <a:srgbClr val="F3F5F8"/>
          </a:solidFill>
          <a:ln w="952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2A44"/>
                </a:solidFill>
                <a:latin typeface="Arial"/>
              </a:rPr>
              <a:t>NWP</a:t>
            </a:r>
          </a:p>
          <a:p>
            <a:pPr algn="ctr">
              <a:spcAft>
                <a:spcPts val="200"/>
              </a:spcAft>
            </a:pPr>
            <a:r>
              <a:rPr sz="880" b="0" i="0">
                <a:solidFill>
                  <a:srgbClr val="1C2433"/>
                </a:solidFill>
                <a:latin typeface="Arial"/>
              </a:rPr>
              <a:t>model environment, e.g. in NOAA ProbSevere v3</a:t>
            </a:r>
          </a:p>
        </p:txBody>
      </p:sp>
      <p:sp>
        <p:nvSpPr>
          <p:cNvPr id="17415" name="Rounded Rectangle 17414"/>
          <p:cNvSpPr/>
          <p:nvPr/>
        </p:nvSpPr>
        <p:spPr>
          <a:xfrm>
            <a:off x="2171700" y="2231136"/>
            <a:ext cx="1760220" cy="566928"/>
          </a:xfrm>
          <a:prstGeom prst="roundRect">
            <a:avLst>
              <a:gd name="adj" fmla="val 7000"/>
            </a:avLst>
          </a:prstGeom>
          <a:solidFill>
            <a:srgbClr val="F3F5F8"/>
          </a:solidFill>
          <a:ln w="952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spcAft>
                <a:spcPts val="200"/>
              </a:spcAft>
            </a:pPr>
            <a:r>
              <a:rPr sz="1000" b="1" i="0">
                <a:solidFill>
                  <a:srgbClr val="1F2A44"/>
                </a:solidFill>
                <a:latin typeface="Arial"/>
              </a:rPr>
              <a:t>SATELLITE PRODUCTS</a:t>
            </a:r>
          </a:p>
          <a:p>
            <a:pPr algn="ctr">
              <a:spcAft>
                <a:spcPts val="200"/>
              </a:spcAft>
            </a:pPr>
            <a:r>
              <a:rPr sz="880" b="0" i="0">
                <a:solidFill>
                  <a:srgbClr val="1C2433"/>
                </a:solidFill>
                <a:latin typeface="Arial"/>
              </a:rPr>
              <a:t>storm objects + phases, e.g. NWCSAF RDT</a:t>
            </a:r>
          </a:p>
        </p:txBody>
      </p:sp>
      <p:sp>
        <p:nvSpPr>
          <p:cNvPr id="17416" name="TextBox 17415"/>
          <p:cNvSpPr txBox="1"/>
          <p:nvPr/>
        </p:nvSpPr>
        <p:spPr>
          <a:xfrm>
            <a:off x="320040" y="2862072"/>
            <a:ext cx="3611880" cy="347472"/>
          </a:xfrm>
          <a:prstGeom prst="rect">
            <a:avLst/>
          </a:prstGeom>
          <a:noFill/>
        </p:spPr>
        <p:txBody>
          <a:bodyPr wrap="square" anchor="t" lIns="18288" rIns="18288" tIns="18288" bIns="18288">
            <a:noAutofit/>
          </a:bodyPr>
          <a:lstStyle/>
          <a:p>
            <a:pPr algn="l">
              <a:spcAft>
                <a:spcPts val="200"/>
              </a:spcAft>
            </a:pPr>
            <a:r>
              <a:rPr sz="900" b="0" i="1">
                <a:solidFill>
                  <a:srgbClr val="555E6B"/>
                </a:solidFill>
                <a:latin typeface="Arial"/>
              </a:rPr>
              <a:t>Operational and research systems already provide storm detection, tracking and severe-weather guidance.</a:t>
            </a:r>
          </a:p>
        </p:txBody>
      </p:sp>
      <p:sp>
        <p:nvSpPr>
          <p:cNvPr id="17417" name="Down Arrow 17416"/>
          <p:cNvSpPr/>
          <p:nvPr/>
        </p:nvSpPr>
        <p:spPr>
          <a:xfrm>
            <a:off x="2016252" y="3218688"/>
            <a:ext cx="219456" cy="128016"/>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320040" y="3383280"/>
            <a:ext cx="3611880" cy="1444752"/>
          </a:xfrm>
          <a:prstGeom prst="roundRect">
            <a:avLst>
              <a:gd name="adj" fmla="val 7000"/>
            </a:avLst>
          </a:prstGeom>
          <a:solidFill>
            <a:srgbClr val="FBEDEA"/>
          </a:solidFill>
          <a:ln w="1270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noAutofit/>
          </a:bodyPr>
          <a:lstStyle/>
          <a:p>
            <a:pPr algn="l">
              <a:spcAft>
                <a:spcPts val="200"/>
              </a:spcAft>
            </a:pPr>
            <a:r>
              <a:rPr sz="1000" b="1" i="0">
                <a:solidFill>
                  <a:srgbClr val="B23A2E"/>
                </a:solidFill>
                <a:latin typeface="Arial"/>
              </a:rPr>
              <a:t>DATA / ACCESS CONSTRAINT</a:t>
            </a:r>
          </a:p>
          <a:p>
            <a:pPr algn="l">
              <a:spcAft>
                <a:spcPts val="200"/>
              </a:spcAft>
            </a:pPr>
            <a:r>
              <a:rPr sz="950" b="1" i="0">
                <a:solidFill>
                  <a:srgbClr val="1C2433"/>
                </a:solidFill>
                <a:latin typeface="Arial"/>
              </a:rPr>
              <a:t>Indian open-data access and latency constrain reproducible, independent validation.</a:t>
            </a:r>
          </a:p>
          <a:p>
            <a:pPr algn="l">
              <a:spcAft>
                <a:spcPts val="200"/>
              </a:spcAft>
            </a:pPr>
            <a:r>
              <a:rPr sz="880" b="1" i="0">
                <a:solidFill>
                  <a:srgbClr val="138086"/>
                </a:solidFill>
                <a:latin typeface="Arial"/>
              </a:rPr>
              <a:t>• </a:t>
            </a:r>
            <a:r>
              <a:rPr sz="880" b="0" i="0">
                <a:solidFill>
                  <a:srgbClr val="1C2433"/>
                </a:solidFill>
                <a:latin typeface="Arial"/>
              </a:rPr>
              <a:t>IMD radar raw data: licence or research request</a:t>
            </a:r>
          </a:p>
          <a:p>
            <a:pPr algn="l">
              <a:spcAft>
                <a:spcPts val="200"/>
              </a:spcAft>
            </a:pPr>
            <a:r>
              <a:rPr sz="880" b="1" i="0">
                <a:solidFill>
                  <a:srgbClr val="138086"/>
                </a:solidFill>
                <a:latin typeface="Arial"/>
              </a:rPr>
              <a:t>• </a:t>
            </a:r>
            <a:r>
              <a:rPr sz="880" b="0" i="0">
                <a:solidFill>
                  <a:srgbClr val="1C2433"/>
                </a:solidFill>
                <a:latin typeface="Arial"/>
              </a:rPr>
              <a:t>INSAT via MOSDAC: general users get data after ~3 days</a:t>
            </a:r>
          </a:p>
          <a:p>
            <a:pPr algn="l">
              <a:spcAft>
                <a:spcPts val="200"/>
              </a:spcAft>
            </a:pPr>
            <a:r>
              <a:rPr sz="880" b="1" i="0">
                <a:solidFill>
                  <a:srgbClr val="138086"/>
                </a:solidFill>
                <a:latin typeface="Arial"/>
              </a:rPr>
              <a:t>• </a:t>
            </a:r>
            <a:r>
              <a:rPr sz="880" b="0" i="0">
                <a:solidFill>
                  <a:srgbClr val="1C2433"/>
                </a:solidFill>
                <a:latin typeface="Arial"/>
              </a:rPr>
              <a:t>Lightning networks: restricted research access</a:t>
            </a:r>
          </a:p>
          <a:p>
            <a:pPr algn="l">
              <a:spcAft>
                <a:spcPts val="200"/>
              </a:spcAft>
            </a:pPr>
            <a:r>
              <a:rPr sz="880" b="1" i="0">
                <a:solidFill>
                  <a:srgbClr val="138086"/>
                </a:solidFill>
                <a:latin typeface="Arial"/>
              </a:rPr>
              <a:t>• </a:t>
            </a:r>
            <a:r>
              <a:rPr sz="880" b="0" i="0">
                <a:solidFill>
                  <a:srgbClr val="1C2433"/>
                </a:solidFill>
                <a:latin typeface="Arial"/>
              </a:rPr>
              <a:t>IMD AWS/ARG portal: closed to the public (May 2025)</a:t>
            </a:r>
          </a:p>
        </p:txBody>
      </p:sp>
      <p:sp>
        <p:nvSpPr>
          <p:cNvPr id="17419" name="Right Arrow 17418"/>
          <p:cNvSpPr/>
          <p:nvPr/>
        </p:nvSpPr>
        <p:spPr>
          <a:xfrm>
            <a:off x="3959352" y="2926080"/>
            <a:ext cx="182880" cy="256032"/>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4187952" y="1325880"/>
            <a:ext cx="379476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OUR RESEARCH QUESTION</a:t>
            </a:r>
          </a:p>
        </p:txBody>
      </p:sp>
      <p:sp>
        <p:nvSpPr>
          <p:cNvPr id="17421" name="Rounded Rectangle 17420"/>
          <p:cNvSpPr/>
          <p:nvPr/>
        </p:nvSpPr>
        <p:spPr>
          <a:xfrm>
            <a:off x="4187952" y="1591056"/>
            <a:ext cx="3794760" cy="1170432"/>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noAutofit/>
          </a:bodyPr>
          <a:lstStyle/>
          <a:p>
            <a:pPr algn="ctr">
              <a:spcAft>
                <a:spcPts val="200"/>
              </a:spcAft>
            </a:pPr>
            <a:r>
              <a:rPr sz="1700" b="1" i="0">
                <a:solidFill>
                  <a:srgbClr val="FFFFFF"/>
                </a:solidFill>
                <a:latin typeface="Arial"/>
              </a:rPr>
              <a:t>WHAT CAN ACTUALLY BE VERIFIED FROM OPEN GEOSTATIONARY IR ALONE?</a:t>
            </a:r>
          </a:p>
        </p:txBody>
      </p:sp>
      <p:sp>
        <p:nvSpPr>
          <p:cNvPr id="17422" name="Down Arrow 17421"/>
          <p:cNvSpPr/>
          <p:nvPr/>
        </p:nvSpPr>
        <p:spPr>
          <a:xfrm>
            <a:off x="5975604" y="2788920"/>
            <a:ext cx="219456" cy="128016"/>
          </a:xfrm>
          <a:prstGeom prst="downArrow">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TextBox 17422"/>
          <p:cNvSpPr txBox="1"/>
          <p:nvPr/>
        </p:nvSpPr>
        <p:spPr>
          <a:xfrm>
            <a:off x="4187952" y="2926080"/>
            <a:ext cx="3794760" cy="237744"/>
          </a:xfrm>
          <a:prstGeom prst="rect">
            <a:avLst/>
          </a:prstGeom>
          <a:noFill/>
        </p:spPr>
        <p:txBody>
          <a:bodyPr wrap="square" anchor="t" lIns="18288" rIns="18288" tIns="18288" bIns="18288">
            <a:noAutofit/>
          </a:bodyPr>
          <a:lstStyle/>
          <a:p>
            <a:pPr algn="l">
              <a:spcAft>
                <a:spcPts val="200"/>
              </a:spcAft>
            </a:pPr>
            <a:r>
              <a:rPr sz="1000" b="1" i="0">
                <a:solidFill>
                  <a:srgbClr val="138086"/>
                </a:solidFill>
                <a:latin typeface="Arial"/>
              </a:rPr>
              <a:t>STORMLIFE CONTRIBUTION</a:t>
            </a:r>
          </a:p>
        </p:txBody>
      </p:sp>
      <p:sp>
        <p:nvSpPr>
          <p:cNvPr id="17424" name="Rounded Rectangle 17423"/>
          <p:cNvSpPr/>
          <p:nvPr/>
        </p:nvSpPr>
        <p:spPr>
          <a:xfrm>
            <a:off x="4187952" y="3182112"/>
            <a:ext cx="1860804" cy="402336"/>
          </a:xfrm>
          <a:prstGeom prst="roundRect">
            <a:avLst>
              <a:gd name="adj" fmla="val 20000"/>
            </a:avLst>
          </a:prstGeom>
          <a:solidFill>
            <a:srgbClr val="E6F3F3"/>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30" b="1" i="0">
                <a:solidFill>
                  <a:srgbClr val="138086"/>
                </a:solidFill>
                <a:latin typeface="Arial"/>
              </a:rPr>
              <a:t>SATELLITE-FIRST</a:t>
            </a:r>
          </a:p>
          <a:p>
            <a:pPr algn="ctr">
              <a:spcAft>
                <a:spcPts val="200"/>
              </a:spcAft>
            </a:pPr>
            <a:r>
              <a:rPr sz="880" b="0" i="0">
                <a:solidFill>
                  <a:srgbClr val="1C2433"/>
                </a:solidFill>
                <a:latin typeface="Arial"/>
              </a:rPr>
              <a:t>open geostationary IR only</a:t>
            </a:r>
          </a:p>
        </p:txBody>
      </p:sp>
      <p:sp>
        <p:nvSpPr>
          <p:cNvPr id="17425" name="Rounded Rectangle 17424"/>
          <p:cNvSpPr/>
          <p:nvPr/>
        </p:nvSpPr>
        <p:spPr>
          <a:xfrm>
            <a:off x="6121908" y="3182112"/>
            <a:ext cx="1860804" cy="402336"/>
          </a:xfrm>
          <a:prstGeom prst="roundRect">
            <a:avLst>
              <a:gd name="adj" fmla="val 20000"/>
            </a:avLst>
          </a:prstGeom>
          <a:solidFill>
            <a:srgbClr val="E6F3F3"/>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30" b="1" i="0">
                <a:solidFill>
                  <a:srgbClr val="138086"/>
                </a:solidFill>
                <a:latin typeface="Arial"/>
              </a:rPr>
              <a:t>BASELINE-FIRST</a:t>
            </a:r>
          </a:p>
          <a:p>
            <a:pPr algn="ctr">
              <a:spcAft>
                <a:spcPts val="200"/>
              </a:spcAft>
            </a:pPr>
            <a:r>
              <a:rPr sz="880" b="0" i="0">
                <a:solidFill>
                  <a:srgbClr val="1C2433"/>
                </a:solidFill>
                <a:latin typeface="Arial"/>
              </a:rPr>
              <a:t>vs persistence + pySTEPS</a:t>
            </a:r>
          </a:p>
        </p:txBody>
      </p:sp>
      <p:sp>
        <p:nvSpPr>
          <p:cNvPr id="17426" name="Rounded Rectangle 17425"/>
          <p:cNvSpPr/>
          <p:nvPr/>
        </p:nvSpPr>
        <p:spPr>
          <a:xfrm>
            <a:off x="4187952" y="3639312"/>
            <a:ext cx="1860804" cy="402336"/>
          </a:xfrm>
          <a:prstGeom prst="roundRect">
            <a:avLst>
              <a:gd name="adj" fmla="val 20000"/>
            </a:avLst>
          </a:prstGeom>
          <a:solidFill>
            <a:srgbClr val="E6F3F3"/>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30" b="1" i="0">
                <a:solidFill>
                  <a:srgbClr val="138086"/>
                </a:solidFill>
                <a:latin typeface="Arial"/>
              </a:rPr>
              <a:t>CALIBRATED PROBABILITY</a:t>
            </a:r>
          </a:p>
          <a:p>
            <a:pPr algn="ctr">
              <a:spcAft>
                <a:spcPts val="200"/>
              </a:spcAft>
            </a:pPr>
            <a:r>
              <a:rPr sz="880" b="0" i="0">
                <a:solidFill>
                  <a:srgbClr val="1C2433"/>
                </a:solidFill>
                <a:latin typeface="Arial"/>
              </a:rPr>
              <a:t>reliability shown</a:t>
            </a:r>
          </a:p>
        </p:txBody>
      </p:sp>
      <p:sp>
        <p:nvSpPr>
          <p:cNvPr id="17427" name="Rounded Rectangle 17426"/>
          <p:cNvSpPr/>
          <p:nvPr/>
        </p:nvSpPr>
        <p:spPr>
          <a:xfrm>
            <a:off x="6121908" y="3639312"/>
            <a:ext cx="1860804" cy="402336"/>
          </a:xfrm>
          <a:prstGeom prst="roundRect">
            <a:avLst>
              <a:gd name="adj" fmla="val 20000"/>
            </a:avLst>
          </a:prstGeom>
          <a:solidFill>
            <a:srgbClr val="E6F3F3"/>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30" b="1" i="0">
                <a:solidFill>
                  <a:srgbClr val="138086"/>
                </a:solidFill>
                <a:latin typeface="Arial"/>
              </a:rPr>
              <a:t>AUDITED TRACKING</a:t>
            </a:r>
          </a:p>
          <a:p>
            <a:pPr algn="ctr">
              <a:spcAft>
                <a:spcPts val="200"/>
              </a:spcAft>
            </a:pPr>
            <a:r>
              <a:rPr sz="880" b="0" i="0">
                <a:solidFill>
                  <a:srgbClr val="1C2433"/>
                </a:solidFill>
                <a:latin typeface="Arial"/>
              </a:rPr>
              <a:t>ID switches 21 % → 0.4 %</a:t>
            </a:r>
          </a:p>
        </p:txBody>
      </p:sp>
      <p:sp>
        <p:nvSpPr>
          <p:cNvPr id="17428" name="Rounded Rectangle 17427"/>
          <p:cNvSpPr/>
          <p:nvPr/>
        </p:nvSpPr>
        <p:spPr>
          <a:xfrm>
            <a:off x="4187952" y="4096512"/>
            <a:ext cx="1860804" cy="402336"/>
          </a:xfrm>
          <a:prstGeom prst="roundRect">
            <a:avLst>
              <a:gd name="adj" fmla="val 20000"/>
            </a:avLst>
          </a:prstGeom>
          <a:solidFill>
            <a:srgbClr val="E6F3F3"/>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30" b="1" i="0">
                <a:solidFill>
                  <a:srgbClr val="138086"/>
                </a:solidFill>
                <a:latin typeface="Arial"/>
              </a:rPr>
              <a:t>REAL-EVENT REPLAY</a:t>
            </a:r>
          </a:p>
          <a:p>
            <a:pPr algn="ctr">
              <a:spcAft>
                <a:spcPts val="200"/>
              </a:spcAft>
            </a:pPr>
            <a:r>
              <a:rPr sz="880" b="0" i="0">
                <a:solidFill>
                  <a:srgbClr val="1C2433"/>
                </a:solidFill>
                <a:latin typeface="Arial"/>
              </a:rPr>
              <a:t>knew · predicted · happened</a:t>
            </a:r>
          </a:p>
        </p:txBody>
      </p:sp>
      <p:sp>
        <p:nvSpPr>
          <p:cNvPr id="17429" name="Rounded Rectangle 17428"/>
          <p:cNvSpPr/>
          <p:nvPr/>
        </p:nvSpPr>
        <p:spPr>
          <a:xfrm>
            <a:off x="6121908" y="4096512"/>
            <a:ext cx="1860804" cy="402336"/>
          </a:xfrm>
          <a:prstGeom prst="roundRect">
            <a:avLst>
              <a:gd name="adj" fmla="val 20000"/>
            </a:avLst>
          </a:prstGeom>
          <a:solidFill>
            <a:srgbClr val="E6F3F3"/>
          </a:solidFill>
          <a:ln w="12700">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930" b="1" i="0">
                <a:solidFill>
                  <a:srgbClr val="138086"/>
                </a:solidFill>
                <a:latin typeface="Arial"/>
              </a:rPr>
              <a:t>TRACEABLE EVIDENCE</a:t>
            </a:r>
          </a:p>
          <a:p>
            <a:pPr algn="ctr">
              <a:spcAft>
                <a:spcPts val="200"/>
              </a:spcAft>
            </a:pPr>
            <a:r>
              <a:rPr sz="880" b="0" i="0">
                <a:solidFill>
                  <a:srgbClr val="1C2433"/>
                </a:solidFill>
                <a:latin typeface="Arial"/>
              </a:rPr>
              <a:t>every number → hashed file</a:t>
            </a:r>
          </a:p>
        </p:txBody>
      </p:sp>
      <p:sp>
        <p:nvSpPr>
          <p:cNvPr id="17430" name="Rounded Rectangle 17429"/>
          <p:cNvSpPr/>
          <p:nvPr/>
        </p:nvSpPr>
        <p:spPr>
          <a:xfrm>
            <a:off x="4187952" y="4553712"/>
            <a:ext cx="3794760" cy="274320"/>
          </a:xfrm>
          <a:prstGeom prst="roundRect">
            <a:avLst>
              <a:gd name="adj" fmla="val 30000"/>
            </a:avLst>
          </a:prstGeom>
          <a:solidFill>
            <a:srgbClr val="FFFFFF"/>
          </a:solidFill>
          <a:ln w="12700">
            <a:solidFill>
              <a:srgbClr val="B2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860" b="1" i="0">
                <a:solidFill>
                  <a:srgbClr val="B23A2E"/>
                </a:solidFill>
                <a:latin typeface="Arial"/>
              </a:rPr>
              <a:t>+ EXPLICIT LIMITATIONS  </a:t>
            </a:r>
            <a:r>
              <a:rPr sz="860" b="0" i="0">
                <a:solidFill>
                  <a:srgbClr val="1C2433"/>
                </a:solidFill>
                <a:latin typeface="Arial"/>
              </a:rPr>
              <a:t>3 days · single IR · no radar/lightning truth</a:t>
            </a:r>
          </a:p>
        </p:txBody>
      </p:sp>
      <p:sp>
        <p:nvSpPr>
          <p:cNvPr id="17431" name="Right Arrow 17430"/>
          <p:cNvSpPr/>
          <p:nvPr/>
        </p:nvSpPr>
        <p:spPr>
          <a:xfrm>
            <a:off x="8010144" y="2926080"/>
            <a:ext cx="182880" cy="256032"/>
          </a:xfrm>
          <a:prstGeom prst="rightArrow">
            <a:avLst/>
          </a:prstGeom>
          <a:solidFill>
            <a:srgbClr val="555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TextBox 17431"/>
          <p:cNvSpPr txBox="1"/>
          <p:nvPr/>
        </p:nvSpPr>
        <p:spPr>
          <a:xfrm>
            <a:off x="8229600" y="1325880"/>
            <a:ext cx="365760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VERIFIED PROTOTYPE</a:t>
            </a:r>
          </a:p>
        </p:txBody>
      </p:sp>
      <p:pic>
        <p:nvPicPr>
          <p:cNvPr id="17433" name="Picture 17432" descr="evidence_performance.png"/>
          <p:cNvPicPr>
            <a:picLocks noChangeAspect="1"/>
          </p:cNvPicPr>
          <p:nvPr/>
        </p:nvPicPr>
        <p:blipFill>
          <a:blip r:embed="rId4"/>
          <a:stretch>
            <a:fillRect/>
          </a:stretch>
        </p:blipFill>
        <p:spPr>
          <a:xfrm>
            <a:off x="8229600" y="1591056"/>
            <a:ext cx="3657600" cy="1913578"/>
          </a:xfrm>
          <a:prstGeom prst="rect">
            <a:avLst/>
          </a:prstGeom>
          <a:ln w="9525">
            <a:solidFill>
              <a:srgbClr val="138086"/>
            </a:solidFill>
          </a:ln>
        </p:spPr>
      </p:pic>
      <p:sp>
        <p:nvSpPr>
          <p:cNvPr id="17434" name="TextBox 17433"/>
          <p:cNvSpPr txBox="1"/>
          <p:nvPr/>
        </p:nvSpPr>
        <p:spPr>
          <a:xfrm>
            <a:off x="8229600" y="3532066"/>
            <a:ext cx="3657600" cy="365760"/>
          </a:xfrm>
          <a:prstGeom prst="rect">
            <a:avLst/>
          </a:prstGeom>
          <a:noFill/>
        </p:spPr>
        <p:txBody>
          <a:bodyPr wrap="square" anchor="t" lIns="9144" rIns="9144" tIns="9144" bIns="9144">
            <a:noAutofit/>
          </a:bodyPr>
          <a:lstStyle/>
          <a:p>
            <a:pPr algn="ctr">
              <a:spcAft>
                <a:spcPts val="200"/>
              </a:spcAft>
            </a:pPr>
            <a:r>
              <a:rPr sz="880" b="1" i="0">
                <a:solidFill>
                  <a:srgbClr val="1C2433"/>
                </a:solidFill>
                <a:latin typeface="Arial"/>
              </a:rPr>
              <a:t>3 held-out storm days • reproducible replay • validated metrics • evidence frozen</a:t>
            </a:r>
          </a:p>
        </p:txBody>
      </p:sp>
      <p:sp>
        <p:nvSpPr>
          <p:cNvPr id="17435" name="Rounded Rectangle 17434"/>
          <p:cNvSpPr/>
          <p:nvPr/>
        </p:nvSpPr>
        <p:spPr>
          <a:xfrm>
            <a:off x="8229600" y="3934402"/>
            <a:ext cx="3657600" cy="566928"/>
          </a:xfrm>
          <a:prstGeom prst="roundRect">
            <a:avLst>
              <a:gd name="adj" fmla="val 12000"/>
            </a:avLst>
          </a:prstGeom>
          <a:solidFill>
            <a:srgbClr val="1380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200"/>
              </a:spcAft>
            </a:pPr>
            <a:r>
              <a:rPr sz="1000" b="1" i="0">
                <a:solidFill>
                  <a:srgbClr val="FFFFFF"/>
                </a:solidFill>
                <a:latin typeface="Arial"/>
              </a:rPr>
              <a:t>StormLife complements existing operational systems; it does not replace them.</a:t>
            </a:r>
          </a:p>
          <a:p>
            <a:pPr algn="ctr">
              <a:spcAft>
                <a:spcPts val="200"/>
              </a:spcAft>
            </a:pPr>
            <a:r>
              <a:rPr sz="900" b="0" i="0">
                <a:solidFill>
                  <a:srgbClr val="FFFFFF"/>
                </a:solidFill>
                <a:latin typeface="Arial"/>
              </a:rPr>
              <a:t>Research prototype · real-event replay · held-out validation</a:t>
            </a:r>
          </a:p>
        </p:txBody>
      </p:sp>
      <p:sp>
        <p:nvSpPr>
          <p:cNvPr id="17436" name="TextBox 17435"/>
          <p:cNvSpPr txBox="1"/>
          <p:nvPr/>
        </p:nvSpPr>
        <p:spPr>
          <a:xfrm>
            <a:off x="320040" y="4882896"/>
            <a:ext cx="80924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DETAILS / LINKS OF THE REFERENCE AND RESEARCH WORK: DATA SOURCES USED</a:t>
            </a:r>
          </a:p>
        </p:txBody>
      </p:sp>
      <p:sp>
        <p:nvSpPr>
          <p:cNvPr id="17437" name="TextBox 17436"/>
          <p:cNvSpPr txBox="1"/>
          <p:nvPr/>
        </p:nvSpPr>
        <p:spPr>
          <a:xfrm>
            <a:off x="8595359" y="4882896"/>
            <a:ext cx="3291840" cy="274320"/>
          </a:xfrm>
          <a:prstGeom prst="rect">
            <a:avLst/>
          </a:prstGeom>
          <a:noFill/>
        </p:spPr>
        <p:txBody>
          <a:bodyPr wrap="square" anchor="t" lIns="18288" rIns="18288" tIns="18288" bIns="18288">
            <a:noAutofit/>
          </a:bodyPr>
          <a:lstStyle/>
          <a:p>
            <a:pPr algn="l">
              <a:spcAft>
                <a:spcPts val="200"/>
              </a:spcAft>
            </a:pPr>
            <a:r>
              <a:rPr sz="1050" b="1" i="0">
                <a:solidFill>
                  <a:srgbClr val="138086"/>
                </a:solidFill>
                <a:latin typeface="Arial"/>
              </a:rPr>
              <a:t>▸ METHODS &amp; REPRODUCIBILITY</a:t>
            </a:r>
          </a:p>
        </p:txBody>
      </p:sp>
      <p:sp>
        <p:nvSpPr>
          <p:cNvPr id="17438" name="Rounded Rectangle 17437"/>
          <p:cNvSpPr/>
          <p:nvPr/>
        </p:nvSpPr>
        <p:spPr>
          <a:xfrm>
            <a:off x="320040" y="5138928"/>
            <a:ext cx="3991356" cy="1133856"/>
          </a:xfrm>
          <a:prstGeom prst="roundRect">
            <a:avLst>
              <a:gd name="adj" fmla="val 7000"/>
            </a:avLst>
          </a:prstGeom>
          <a:solidFill>
            <a:srgbClr val="FFFFFF"/>
          </a:solidFill>
          <a:ln w="15875">
            <a:solidFill>
              <a:srgbClr val="2E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Rounded Rectangle 17438"/>
          <p:cNvSpPr/>
          <p:nvPr/>
        </p:nvSpPr>
        <p:spPr>
          <a:xfrm>
            <a:off x="384048" y="5230368"/>
            <a:ext cx="658368" cy="950976"/>
          </a:xfrm>
          <a:prstGeom prst="roundRect">
            <a:avLst>
              <a:gd name="adj" fmla="val 12000"/>
            </a:avLst>
          </a:prstGeom>
          <a:solidFill>
            <a:srgbClr val="2E4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150" b="1" i="0">
                <a:solidFill>
                  <a:srgbClr val="FFFFFF"/>
                </a:solidFill>
                <a:latin typeface="Arial"/>
              </a:rPr>
              <a:t>IMD</a:t>
            </a:r>
          </a:p>
          <a:p>
            <a:pPr algn="ctr">
              <a:spcAft>
                <a:spcPts val="200"/>
              </a:spcAft>
            </a:pPr>
            <a:r>
              <a:rPr sz="850" b="0" i="0">
                <a:solidFill>
                  <a:srgbClr val="FFFFFF"/>
                </a:solidFill>
                <a:latin typeface="Arial"/>
              </a:rPr>
              <a:t>Govt.</a:t>
            </a:r>
          </a:p>
          <a:p>
            <a:pPr algn="ctr">
              <a:spcAft>
                <a:spcPts val="200"/>
              </a:spcAft>
            </a:pPr>
            <a:r>
              <a:rPr sz="850" b="0" i="0">
                <a:solidFill>
                  <a:srgbClr val="FFFFFF"/>
                </a:solidFill>
                <a:latin typeface="Arial"/>
              </a:rPr>
              <a:t>of India</a:t>
            </a:r>
          </a:p>
        </p:txBody>
      </p:sp>
      <p:sp>
        <p:nvSpPr>
          <p:cNvPr id="17440" name="TextBox 17439"/>
          <p:cNvSpPr txBox="1"/>
          <p:nvPr/>
        </p:nvSpPr>
        <p:spPr>
          <a:xfrm>
            <a:off x="1088136" y="5157216"/>
            <a:ext cx="2418588" cy="1097280"/>
          </a:xfrm>
          <a:prstGeom prst="rect">
            <a:avLst/>
          </a:prstGeom>
          <a:noFill/>
        </p:spPr>
        <p:txBody>
          <a:bodyPr wrap="square" anchor="t" lIns="18288" rIns="18288" tIns="18288" bIns="18288">
            <a:noAutofit/>
          </a:bodyPr>
          <a:lstStyle/>
          <a:p>
            <a:pPr algn="l">
              <a:spcAft>
                <a:spcPts val="200"/>
              </a:spcAft>
            </a:pPr>
            <a:r>
              <a:rPr sz="919" b="1" i="0">
                <a:solidFill>
                  <a:srgbClr val="1C2433"/>
                </a:solidFill>
                <a:latin typeface="Arial"/>
              </a:rPr>
              <a:t>India Meteorological Department</a:t>
            </a:r>
          </a:p>
          <a:p>
            <a:pPr algn="l">
              <a:spcAft>
                <a:spcPts val="200"/>
              </a:spcAft>
            </a:pPr>
            <a:r>
              <a:rPr sz="860" b="1" i="0">
                <a:solidFill>
                  <a:srgbClr val="2E4A7A"/>
                </a:solidFill>
                <a:latin typeface="Arial"/>
              </a:rPr>
              <a:t>Used for: </a:t>
            </a:r>
            <a:r>
              <a:rPr sz="860" b="0" i="0">
                <a:solidFill>
                  <a:srgbClr val="1C2433"/>
                </a:solidFill>
                <a:latin typeface="Arial"/>
              </a:rPr>
              <a:t>hail-report dates to select storm days (context, not verification truth)</a:t>
            </a:r>
          </a:p>
          <a:p>
            <a:pPr algn="l">
              <a:spcAft>
                <a:spcPts val="200"/>
              </a:spcAft>
            </a:pPr>
            <a:r>
              <a:rPr sz="860" b="0" i="0">
                <a:solidFill>
                  <a:srgbClr val="1C2433"/>
                </a:solidFill>
                <a:latin typeface="Arial"/>
              </a:rPr>
              <a:t/>
            </a:r>
            <a:r>
              <a:rPr sz="860" b="0" u="sng">
                <a:solidFill>
                  <a:srgbClr val="1F6FB2"/>
                </a:solidFill>
                <a:latin typeface="Arial"/>
                <a:hlinkClick r:id="rId5"/>
              </a:rPr>
              <a:t>Hail-storm report (PDF)</a:t>
            </a:r>
            <a:r>
              <a:rPr sz="860">
                <a:latin typeface="Arial"/>
              </a:rPr>
              <a:t> · </a:t>
            </a:r>
            <a:r>
              <a:rPr sz="860" b="0" u="sng">
                <a:solidFill>
                  <a:srgbClr val="1F6FB2"/>
                </a:solidFill>
                <a:latin typeface="Arial"/>
                <a:hlinkClick r:id="rId6"/>
              </a:rPr>
              <a:t>mausam.imd.gov.in</a:t>
            </a:r>
          </a:p>
        </p:txBody>
      </p:sp>
      <p:pic>
        <p:nvPicPr>
          <p:cNvPr id="17441" name="Picture 17440" descr="qr_imd_hail.png"/>
          <p:cNvPicPr>
            <a:picLocks noChangeAspect="1"/>
          </p:cNvPicPr>
          <p:nvPr/>
        </p:nvPicPr>
        <p:blipFill>
          <a:blip r:embed="rId7"/>
          <a:stretch>
            <a:fillRect/>
          </a:stretch>
        </p:blipFill>
        <p:spPr>
          <a:xfrm>
            <a:off x="3525012" y="5303520"/>
            <a:ext cx="731520" cy="731520"/>
          </a:xfrm>
          <a:prstGeom prst="rect">
            <a:avLst/>
          </a:prstGeom>
          <a:ln w="9525">
            <a:solidFill>
              <a:srgbClr val="FFFFFF"/>
            </a:solidFill>
          </a:ln>
        </p:spPr>
      </p:pic>
      <p:sp>
        <p:nvSpPr>
          <p:cNvPr id="17442" name="Rounded Rectangle 17441"/>
          <p:cNvSpPr/>
          <p:nvPr/>
        </p:nvSpPr>
        <p:spPr>
          <a:xfrm>
            <a:off x="4421124" y="5138928"/>
            <a:ext cx="3991356" cy="1133856"/>
          </a:xfrm>
          <a:prstGeom prst="roundRect">
            <a:avLst>
              <a:gd name="adj" fmla="val 7000"/>
            </a:avLst>
          </a:prstGeom>
          <a:solidFill>
            <a:srgbClr val="FFFFFF"/>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3" name="Rounded Rectangle 17442"/>
          <p:cNvSpPr/>
          <p:nvPr/>
        </p:nvSpPr>
        <p:spPr>
          <a:xfrm>
            <a:off x="4485132" y="5230368"/>
            <a:ext cx="658368" cy="950976"/>
          </a:xfrm>
          <a:prstGeom prst="roundRect">
            <a:avLst>
              <a:gd name="adj" fmla="val 12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200"/>
              </a:spcAft>
            </a:pPr>
            <a:r>
              <a:rPr sz="1150" b="1" i="0">
                <a:solidFill>
                  <a:srgbClr val="FFFFFF"/>
                </a:solidFill>
                <a:latin typeface="Arial"/>
              </a:rPr>
              <a:t>NOAA</a:t>
            </a:r>
          </a:p>
          <a:p>
            <a:pPr algn="ctr">
              <a:spcAft>
                <a:spcPts val="200"/>
              </a:spcAft>
            </a:pPr>
            <a:r>
              <a:rPr sz="850" b="0" i="0">
                <a:solidFill>
                  <a:srgbClr val="FFFFFF"/>
                </a:solidFill>
                <a:latin typeface="Arial"/>
              </a:rPr>
              <a:t>NCEP</a:t>
            </a:r>
          </a:p>
          <a:p>
            <a:pPr algn="ctr">
              <a:spcAft>
                <a:spcPts val="200"/>
              </a:spcAft>
            </a:pPr>
            <a:r>
              <a:rPr sz="850" b="0" i="0">
                <a:solidFill>
                  <a:srgbClr val="FFFFFF"/>
                </a:solidFill>
                <a:latin typeface="Arial"/>
              </a:rPr>
              <a:t>CPC</a:t>
            </a:r>
          </a:p>
        </p:txBody>
      </p:sp>
      <p:sp>
        <p:nvSpPr>
          <p:cNvPr id="17444" name="TextBox 17443"/>
          <p:cNvSpPr txBox="1"/>
          <p:nvPr/>
        </p:nvSpPr>
        <p:spPr>
          <a:xfrm>
            <a:off x="5189220" y="5157216"/>
            <a:ext cx="2418588" cy="1097280"/>
          </a:xfrm>
          <a:prstGeom prst="rect">
            <a:avLst/>
          </a:prstGeom>
          <a:noFill/>
        </p:spPr>
        <p:txBody>
          <a:bodyPr wrap="square" anchor="t" lIns="18288" rIns="18288" tIns="18288" bIns="18288">
            <a:noAutofit/>
          </a:bodyPr>
          <a:lstStyle/>
          <a:p>
            <a:pPr algn="l">
              <a:spcAft>
                <a:spcPts val="200"/>
              </a:spcAft>
            </a:pPr>
            <a:r>
              <a:rPr sz="919" b="1" i="0">
                <a:solidFill>
                  <a:srgbClr val="1C2433"/>
                </a:solidFill>
                <a:latin typeface="Arial"/>
              </a:rPr>
              <a:t>NOAA / NCEP Climate Prediction Center</a:t>
            </a:r>
          </a:p>
          <a:p>
            <a:pPr algn="l">
              <a:spcAft>
                <a:spcPts val="200"/>
              </a:spcAft>
            </a:pPr>
            <a:r>
              <a:rPr sz="860" b="1" i="0">
                <a:solidFill>
                  <a:srgbClr val="1F6FB2"/>
                </a:solidFill>
                <a:latin typeface="Arial"/>
              </a:rPr>
              <a:t>Used for: </a:t>
            </a:r>
            <a:r>
              <a:rPr sz="860" b="0" i="0">
                <a:solidFill>
                  <a:srgbClr val="1C2433"/>
                </a:solidFill>
                <a:latin typeface="Arial"/>
              </a:rPr>
              <a:t>Globally Merged IR: all satellite inputs + truth · ~4 km · 30-min</a:t>
            </a:r>
          </a:p>
          <a:p>
            <a:pPr algn="l">
              <a:spcAft>
                <a:spcPts val="200"/>
              </a:spcAft>
            </a:pPr>
            <a:r>
              <a:rPr sz="860" b="0" i="0">
                <a:solidFill>
                  <a:srgbClr val="1C2433"/>
                </a:solidFill>
                <a:latin typeface="Arial"/>
              </a:rPr>
              <a:t/>
            </a:r>
            <a:r>
              <a:rPr sz="860" b="0" u="sng">
                <a:solidFill>
                  <a:srgbClr val="1F6FB2"/>
                </a:solidFill>
                <a:latin typeface="Arial"/>
                <a:hlinkClick r:id="rId8"/>
              </a:rPr>
              <a:t>Merged IR page</a:t>
            </a:r>
            <a:r>
              <a:rPr sz="860">
                <a:latin typeface="Arial"/>
              </a:rPr>
              <a:t> · </a:t>
            </a:r>
            <a:r>
              <a:rPr sz="860" b="0" u="sng">
                <a:solidFill>
                  <a:srgbClr val="1F6FB2"/>
                </a:solidFill>
                <a:latin typeface="Arial"/>
                <a:hlinkClick r:id="rId9"/>
              </a:rPr>
              <a:t>Full-res IR</a:t>
            </a:r>
            <a:r>
              <a:rPr sz="860">
                <a:latin typeface="Arial"/>
              </a:rPr>
              <a:t> · </a:t>
            </a:r>
            <a:r>
              <a:rPr sz="860" b="0" u="sng">
                <a:solidFill>
                  <a:srgbClr val="1F6FB2"/>
                </a:solidFill>
                <a:latin typeface="Arial"/>
                <a:hlinkClick r:id="rId10"/>
              </a:rPr>
              <a:t>Archive used</a:t>
            </a:r>
          </a:p>
        </p:txBody>
      </p:sp>
      <p:pic>
        <p:nvPicPr>
          <p:cNvPr id="17445" name="Picture 17444" descr="qr_cpc_merged_ir.png"/>
          <p:cNvPicPr>
            <a:picLocks noChangeAspect="1"/>
          </p:cNvPicPr>
          <p:nvPr/>
        </p:nvPicPr>
        <p:blipFill>
          <a:blip r:embed="rId11"/>
          <a:stretch>
            <a:fillRect/>
          </a:stretch>
        </p:blipFill>
        <p:spPr>
          <a:xfrm>
            <a:off x="7626096" y="5303520"/>
            <a:ext cx="731520" cy="731520"/>
          </a:xfrm>
          <a:prstGeom prst="rect">
            <a:avLst/>
          </a:prstGeom>
          <a:ln w="9525">
            <a:solidFill>
              <a:srgbClr val="FFFFFF"/>
            </a:solidFill>
          </a:ln>
        </p:spPr>
      </p:pic>
      <p:sp>
        <p:nvSpPr>
          <p:cNvPr id="17446" name="Rounded Rectangle 17445"/>
          <p:cNvSpPr/>
          <p:nvPr/>
        </p:nvSpPr>
        <p:spPr>
          <a:xfrm>
            <a:off x="8595359" y="5138928"/>
            <a:ext cx="3291840" cy="1133856"/>
          </a:xfrm>
          <a:prstGeom prst="roundRect">
            <a:avLst>
              <a:gd name="adj" fmla="val 7000"/>
            </a:avLst>
          </a:prstGeom>
          <a:solidFill>
            <a:srgbClr val="FFFFFF"/>
          </a:solidFill>
          <a:ln w="15875">
            <a:solidFill>
              <a:srgbClr val="138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7" name="TextBox 17446"/>
          <p:cNvSpPr txBox="1"/>
          <p:nvPr/>
        </p:nvSpPr>
        <p:spPr>
          <a:xfrm>
            <a:off x="8668511" y="5184648"/>
            <a:ext cx="3145536" cy="335280"/>
          </a:xfrm>
          <a:prstGeom prst="rect">
            <a:avLst/>
          </a:prstGeom>
          <a:noFill/>
        </p:spPr>
        <p:txBody>
          <a:bodyPr wrap="square" anchor="ctr" lIns="0" rIns="0" tIns="0" bIns="0">
            <a:noAutofit/>
          </a:bodyPr>
          <a:lstStyle/>
          <a:p>
            <a:pPr algn="l">
              <a:spcAft>
                <a:spcPts val="0"/>
              </a:spcAft>
            </a:pPr>
            <a:r>
              <a:rPr sz="880" b="1" i="0">
                <a:solidFill>
                  <a:srgbClr val="138086"/>
                </a:solidFill>
                <a:latin typeface="Arial"/>
              </a:rPr>
              <a:t>pySTEPS</a:t>
            </a:r>
            <a:r>
              <a:rPr sz="880" b="0" i="0">
                <a:solidFill>
                  <a:srgbClr val="555E6B"/>
                </a:solidFill>
                <a:latin typeface="Arial"/>
              </a:rPr>
              <a:t>  →  </a:t>
            </a:r>
            <a:r>
              <a:rPr sz="880" b="1" u="sng">
                <a:solidFill>
                  <a:srgbClr val="1F6FB2"/>
                </a:solidFill>
                <a:latin typeface="Arial"/>
                <a:hlinkClick r:id="rId12"/>
              </a:rPr>
              <a:t>pySTEPS official repo</a:t>
            </a:r>
          </a:p>
          <a:p>
            <a:pPr algn="l">
              <a:spcAft>
                <a:spcPts val="0"/>
              </a:spcAft>
            </a:pPr>
            <a:r>
              <a:rPr sz="850" b="0" i="1">
                <a:solidFill>
                  <a:srgbClr val="1C2433"/>
                </a:solidFill>
                <a:latin typeface="Arial"/>
              </a:rPr>
              <a:t>external open-source: advection baseline + FSS</a:t>
            </a:r>
          </a:p>
        </p:txBody>
      </p:sp>
      <p:cxnSp>
        <p:nvCxnSpPr>
          <p:cNvPr id="17448" name="Connector 17447"/>
          <p:cNvCxnSpPr/>
          <p:nvPr/>
        </p:nvCxnSpPr>
        <p:spPr>
          <a:xfrm>
            <a:off x="8705087" y="5529072"/>
            <a:ext cx="3072385" cy="0"/>
          </a:xfrm>
          <a:prstGeom prst="line">
            <a:avLst/>
          </a:prstGeom>
          <a:ln w="9525">
            <a:solidFill>
              <a:srgbClr val="C9CED8"/>
            </a:solidFill>
          </a:ln>
        </p:spPr>
        <p:style>
          <a:lnRef idx="2">
            <a:schemeClr val="accent1"/>
          </a:lnRef>
          <a:fillRef idx="0">
            <a:schemeClr val="accent1"/>
          </a:fillRef>
          <a:effectRef idx="1">
            <a:schemeClr val="accent1"/>
          </a:effectRef>
          <a:fontRef idx="minor">
            <a:schemeClr val="tx1"/>
          </a:fontRef>
        </p:style>
      </p:cxnSp>
      <p:sp>
        <p:nvSpPr>
          <p:cNvPr id="17449" name="TextBox 17448"/>
          <p:cNvSpPr txBox="1"/>
          <p:nvPr/>
        </p:nvSpPr>
        <p:spPr>
          <a:xfrm>
            <a:off x="8668511" y="5538216"/>
            <a:ext cx="3145536" cy="335280"/>
          </a:xfrm>
          <a:prstGeom prst="rect">
            <a:avLst/>
          </a:prstGeom>
          <a:noFill/>
        </p:spPr>
        <p:txBody>
          <a:bodyPr wrap="square" anchor="ctr" lIns="0" rIns="0" tIns="0" bIns="0">
            <a:noAutofit/>
          </a:bodyPr>
          <a:lstStyle/>
          <a:p>
            <a:pPr algn="l">
              <a:spcAft>
                <a:spcPts val="0"/>
              </a:spcAft>
            </a:pPr>
            <a:r>
              <a:rPr sz="880" b="1" i="0">
                <a:solidFill>
                  <a:srgbClr val="138086"/>
                </a:solidFill>
                <a:latin typeface="Arial"/>
              </a:rPr>
              <a:t>STORMLIFE REPOSITORY</a:t>
            </a:r>
            <a:r>
              <a:rPr sz="880" b="0" i="0">
                <a:solidFill>
                  <a:srgbClr val="555E6B"/>
                </a:solidFill>
                <a:latin typeface="Arial"/>
              </a:rPr>
              <a:t>  →  </a:t>
            </a:r>
            <a:r>
              <a:rPr sz="880" b="1">
                <a:solidFill>
                  <a:srgbClr val="C9822B"/>
                </a:solidFill>
                <a:latin typeface="Arial"/>
              </a:rPr>
              <a:t>[REPOSITORY URL]</a:t>
            </a:r>
          </a:p>
          <a:p>
            <a:pPr algn="l">
              <a:spcAft>
                <a:spcPts val="0"/>
              </a:spcAft>
            </a:pPr>
            <a:r>
              <a:rPr sz="850" b="0" i="1">
                <a:solidFill>
                  <a:srgbClr val="1C2433"/>
                </a:solidFill>
                <a:latin typeface="Arial"/>
              </a:rPr>
              <a:t>GitHub: our code · replay pipeline · validation · evidence</a:t>
            </a:r>
          </a:p>
        </p:txBody>
      </p:sp>
      <p:cxnSp>
        <p:nvCxnSpPr>
          <p:cNvPr id="17450" name="Connector 17449"/>
          <p:cNvCxnSpPr/>
          <p:nvPr/>
        </p:nvCxnSpPr>
        <p:spPr>
          <a:xfrm>
            <a:off x="8705087" y="5882640"/>
            <a:ext cx="3072385" cy="0"/>
          </a:xfrm>
          <a:prstGeom prst="line">
            <a:avLst/>
          </a:prstGeom>
          <a:ln w="9525">
            <a:solidFill>
              <a:srgbClr val="C9CED8"/>
            </a:solidFill>
          </a:ln>
        </p:spPr>
        <p:style>
          <a:lnRef idx="2">
            <a:schemeClr val="accent1"/>
          </a:lnRef>
          <a:fillRef idx="0">
            <a:schemeClr val="accent1"/>
          </a:fillRef>
          <a:effectRef idx="1">
            <a:schemeClr val="accent1"/>
          </a:effectRef>
          <a:fontRef idx="minor">
            <a:schemeClr val="tx1"/>
          </a:fontRef>
        </p:style>
      </p:cxnSp>
      <p:sp>
        <p:nvSpPr>
          <p:cNvPr id="17451" name="TextBox 17450"/>
          <p:cNvSpPr txBox="1"/>
          <p:nvPr/>
        </p:nvSpPr>
        <p:spPr>
          <a:xfrm>
            <a:off x="8668511" y="5891784"/>
            <a:ext cx="3145536" cy="335280"/>
          </a:xfrm>
          <a:prstGeom prst="rect">
            <a:avLst/>
          </a:prstGeom>
          <a:noFill/>
        </p:spPr>
        <p:txBody>
          <a:bodyPr wrap="square" anchor="ctr" lIns="0" rIns="0" tIns="0" bIns="0">
            <a:noAutofit/>
          </a:bodyPr>
          <a:lstStyle/>
          <a:p>
            <a:pPr algn="l">
              <a:spcAft>
                <a:spcPts val="0"/>
              </a:spcAft>
            </a:pPr>
            <a:r>
              <a:rPr sz="880" b="1" i="0">
                <a:solidFill>
                  <a:srgbClr val="138086"/>
                </a:solidFill>
                <a:latin typeface="Arial"/>
              </a:rPr>
              <a:t>DEMO / REPLAY</a:t>
            </a:r>
            <a:r>
              <a:rPr sz="880" b="0" i="0">
                <a:solidFill>
                  <a:srgbClr val="555E6B"/>
                </a:solidFill>
                <a:latin typeface="Arial"/>
              </a:rPr>
              <a:t>  →  </a:t>
            </a:r>
            <a:r>
              <a:rPr sz="880" b="1">
                <a:solidFill>
                  <a:srgbClr val="C9822B"/>
                </a:solidFill>
                <a:latin typeface="Arial"/>
              </a:rPr>
              <a:t>Demo video [VIDEO LINK]</a:t>
            </a:r>
          </a:p>
          <a:p>
            <a:pPr algn="l">
              <a:spcAft>
                <a:spcPts val="0"/>
              </a:spcAft>
            </a:pPr>
            <a:r>
              <a:rPr sz="850" b="0" i="1">
                <a:solidFill>
                  <a:srgbClr val="1C2433"/>
                </a:solidFill>
                <a:latin typeface="Arial"/>
              </a:rPr>
              <a:t>short demo of the verified prototype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